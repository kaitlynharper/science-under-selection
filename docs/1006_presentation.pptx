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1" r:id="rId1"/>
  </p:sldMasterIdLst>
  <p:notesMasterIdLst>
    <p:notesMasterId r:id="rId18"/>
  </p:notesMasterIdLst>
  <p:sldIdLst>
    <p:sldId id="256" r:id="rId2"/>
    <p:sldId id="257" r:id="rId3"/>
    <p:sldId id="259" r:id="rId4"/>
    <p:sldId id="264" r:id="rId5"/>
    <p:sldId id="291" r:id="rId6"/>
    <p:sldId id="284" r:id="rId7"/>
    <p:sldId id="263" r:id="rId8"/>
    <p:sldId id="289" r:id="rId9"/>
    <p:sldId id="286" r:id="rId10"/>
    <p:sldId id="283" r:id="rId11"/>
    <p:sldId id="287" r:id="rId12"/>
    <p:sldId id="288" r:id="rId13"/>
    <p:sldId id="290" r:id="rId14"/>
    <p:sldId id="282" r:id="rId15"/>
    <p:sldId id="285"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E79"/>
    <a:srgbClr val="767171"/>
    <a:srgbClr val="E79F01"/>
    <a:srgbClr val="FFFFFF"/>
    <a:srgbClr val="31904D"/>
    <a:srgbClr val="009F73"/>
    <a:srgbClr val="55B3E8"/>
    <a:srgbClr val="E79F00"/>
    <a:srgbClr val="A5A5A5"/>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86"/>
    <p:restoredTop sz="89040"/>
  </p:normalViewPr>
  <p:slideViewPr>
    <p:cSldViewPr snapToGrid="0">
      <p:cViewPr varScale="1">
        <p:scale>
          <a:sx n="119" d="100"/>
          <a:sy n="119" d="100"/>
        </p:scale>
        <p:origin x="880" y="192"/>
      </p:cViewPr>
      <p:guideLst/>
    </p:cSldViewPr>
  </p:slideViewPr>
  <p:notesTextViewPr>
    <p:cViewPr>
      <p:scale>
        <a:sx n="1" d="1"/>
        <a:sy n="1" d="1"/>
      </p:scale>
      <p:origin x="0" y="0"/>
    </p:cViewPr>
  </p:notesTextViewPr>
  <p:notesViewPr>
    <p:cSldViewPr snapToGrid="0">
      <p:cViewPr varScale="1">
        <p:scale>
          <a:sx n="102" d="100"/>
          <a:sy n="102" d="100"/>
        </p:scale>
        <p:origin x="385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17CF1-78A4-5445-8FDE-AF6B1A8BE3B0}" type="datetimeFigureOut">
              <a:rPr lang="en-US" smtClean="0"/>
              <a:t>6/10/26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86264B-2A73-B649-B9C3-E3B5A598AB86}" type="slidenum">
              <a:rPr lang="en-US" smtClean="0"/>
              <a:t>‹#›</a:t>
            </a:fld>
            <a:endParaRPr lang="en-US"/>
          </a:p>
        </p:txBody>
      </p:sp>
    </p:spTree>
    <p:extLst>
      <p:ext uri="{BB962C8B-B14F-4D97-AF65-F5344CB8AC3E}">
        <p14:creationId xmlns:p14="http://schemas.microsoft.com/office/powerpoint/2010/main" val="2575155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DIRECT replications!!</a:t>
            </a:r>
          </a:p>
          <a:p>
            <a:r>
              <a:rPr lang="en-US" dirty="0"/>
              <a:t>With low prior odds, small sample sizes, and flexible analyses, the positive predictive value is less than 50% </a:t>
            </a:r>
          </a:p>
          <a:p>
            <a:r>
              <a:rPr lang="en-US" dirty="0"/>
              <a:t>Can we trust original published results?</a:t>
            </a:r>
          </a:p>
          <a:p>
            <a:pPr lvl="1"/>
            <a:r>
              <a:rPr lang="en-US" dirty="0"/>
              <a:t>Estimated positive predictive value is less than 50% </a:t>
            </a:r>
            <a:r>
              <a:rPr lang="en-US" sz="1600" dirty="0">
                <a:solidFill>
                  <a:schemeClr val="bg1">
                    <a:lumMod val="75000"/>
                  </a:schemeClr>
                </a:solidFill>
              </a:rPr>
              <a:t>(Ioannidis, 2005)</a:t>
            </a:r>
          </a:p>
          <a:p>
            <a:pPr lvl="1"/>
            <a:r>
              <a:rPr lang="en-AU" dirty="0"/>
              <a:t>Considering all replications (</a:t>
            </a:r>
            <a:r>
              <a:rPr lang="en-AU" i="1" dirty="0"/>
              <a:t>n</a:t>
            </a:r>
            <a:r>
              <a:rPr lang="en-AU" dirty="0"/>
              <a:t> = 307), 64% reported statistically significant evidence in the same direction, with effect sizes 68% as large as in the original studies </a:t>
            </a:r>
            <a:r>
              <a:rPr lang="en-US" sz="1600" dirty="0">
                <a:solidFill>
                  <a:schemeClr val="bg1">
                    <a:lumMod val="75000"/>
                  </a:schemeClr>
                </a:solidFill>
              </a:rPr>
              <a:t>(Nosek et al., 2022)</a:t>
            </a:r>
          </a:p>
          <a:p>
            <a:r>
              <a:rPr lang="en-US" dirty="0"/>
              <a:t>0-3% of published research are replications </a:t>
            </a:r>
            <a:r>
              <a:rPr lang="en-US" sz="1600" dirty="0">
                <a:solidFill>
                  <a:schemeClr val="bg1">
                    <a:lumMod val="75000"/>
                  </a:schemeClr>
                </a:solidFill>
              </a:rPr>
              <a:t>(Makel et al., 2012; Hardwicke et al., 2020)</a:t>
            </a:r>
            <a:endParaRPr lang="en-US" i="1" dirty="0"/>
          </a:p>
          <a:p>
            <a:pPr marL="457200" lvl="1" indent="0">
              <a:buNone/>
            </a:pPr>
            <a:endParaRPr lang="en-US" i="1" dirty="0"/>
          </a:p>
          <a:p>
            <a:r>
              <a:rPr lang="en-US" sz="2600" dirty="0"/>
              <a:t>Debate about value of replications </a:t>
            </a:r>
            <a:r>
              <a:rPr lang="en-US" sz="1500" dirty="0">
                <a:solidFill>
                  <a:schemeClr val="bg1">
                    <a:lumMod val="75000"/>
                  </a:schemeClr>
                </a:solidFill>
              </a:rPr>
              <a:t>(Zwaan et al., 2018)</a:t>
            </a:r>
          </a:p>
          <a:p>
            <a:endParaRPr lang="en-US" sz="1500" dirty="0">
              <a:solidFill>
                <a:schemeClr val="bg1">
                  <a:lumMod val="75000"/>
                </a:schemeClr>
              </a:solidFill>
            </a:endParaRPr>
          </a:p>
          <a:p>
            <a:pPr marL="285750" indent="-285750">
              <a:buFont typeface="Arial" panose="020B0604020202020204" pitchFamily="34" charset="0"/>
              <a:buChar char="•"/>
            </a:pPr>
            <a:r>
              <a:rPr lang="en-AU" sz="2200" i="1" dirty="0"/>
              <a:t>Direct replications provide a false sense of certainty about the robustness of the underlying idea</a:t>
            </a:r>
          </a:p>
          <a:p>
            <a:pPr marL="285750" indent="-285750">
              <a:buFont typeface="Arial" panose="020B0604020202020204" pitchFamily="34" charset="0"/>
              <a:buChar char="•"/>
            </a:pPr>
            <a:r>
              <a:rPr lang="en-AU" sz="2200" i="1" dirty="0"/>
              <a:t>The current obsession with replication is a red herring, distracting attention from the real threats to the validity of cumulative knowledge</a:t>
            </a:r>
          </a:p>
          <a:p>
            <a:pPr marL="285750" indent="-285750">
              <a:buFont typeface="Arial" panose="020B0604020202020204" pitchFamily="34" charset="0"/>
              <a:buChar char="•"/>
            </a:pPr>
            <a:r>
              <a:rPr lang="en-AU" sz="2200" i="1" dirty="0"/>
              <a:t>Replication studies – and especially failed replications – may have reputational costs for the authors of the original studies</a:t>
            </a:r>
          </a:p>
          <a:p>
            <a:pPr marL="285750" indent="-285750">
              <a:buFont typeface="Arial" panose="020B0604020202020204" pitchFamily="34" charset="0"/>
              <a:buChar char="•"/>
            </a:pPr>
            <a:r>
              <a:rPr lang="en-AU" sz="2200" i="1" dirty="0"/>
              <a:t>Conducting replication studies may not be desirable – or even possible – merely because of practical concerns</a:t>
            </a:r>
          </a:p>
          <a:p>
            <a:pPr marL="457200" lvl="1" indent="0">
              <a:buNone/>
            </a:pPr>
            <a:endParaRPr lang="en-US" i="1" dirty="0"/>
          </a:p>
          <a:p>
            <a:r>
              <a:rPr lang="en-US" dirty="0"/>
              <a:t>Given fixed, limited resources: what’s the ideal proportion of replication research?</a:t>
            </a:r>
          </a:p>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2</a:t>
            </a:fld>
            <a:endParaRPr lang="en-US"/>
          </a:p>
        </p:txBody>
      </p:sp>
    </p:spTree>
    <p:extLst>
      <p:ext uri="{BB962C8B-B14F-4D97-AF65-F5344CB8AC3E}">
        <p14:creationId xmlns:p14="http://schemas.microsoft.com/office/powerpoint/2010/main" val="11562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hiring based on # of publications, what if hirers had “god-mode” and could hire researchers who contributed the most to actual knowledge gain</a:t>
            </a:r>
          </a:p>
        </p:txBody>
      </p:sp>
      <p:sp>
        <p:nvSpPr>
          <p:cNvPr id="4" name="Slide Number Placeholder 3"/>
          <p:cNvSpPr>
            <a:spLocks noGrp="1"/>
          </p:cNvSpPr>
          <p:nvPr>
            <p:ph type="sldNum" sz="quarter" idx="5"/>
          </p:nvPr>
        </p:nvSpPr>
        <p:spPr/>
        <p:txBody>
          <a:bodyPr/>
          <a:lstStyle/>
          <a:p>
            <a:fld id="{0586264B-2A73-B649-B9C3-E3B5A598AB86}" type="slidenum">
              <a:rPr lang="en-US" smtClean="0"/>
              <a:t>3</a:t>
            </a:fld>
            <a:endParaRPr lang="en-US"/>
          </a:p>
        </p:txBody>
      </p:sp>
    </p:spTree>
    <p:extLst>
      <p:ext uri="{BB962C8B-B14F-4D97-AF65-F5344CB8AC3E}">
        <p14:creationId xmlns:p14="http://schemas.microsoft.com/office/powerpoint/2010/main" val="4291098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Bayesian belief updating</a:t>
            </a:r>
          </a:p>
        </p:txBody>
      </p:sp>
      <p:sp>
        <p:nvSpPr>
          <p:cNvPr id="4" name="Slide Number Placeholder 3"/>
          <p:cNvSpPr>
            <a:spLocks noGrp="1"/>
          </p:cNvSpPr>
          <p:nvPr>
            <p:ph type="sldNum" sz="quarter" idx="5"/>
          </p:nvPr>
        </p:nvSpPr>
        <p:spPr/>
        <p:txBody>
          <a:bodyPr/>
          <a:lstStyle/>
          <a:p>
            <a:fld id="{0586264B-2A73-B649-B9C3-E3B5A598AB86}" type="slidenum">
              <a:rPr lang="en-US" smtClean="0"/>
              <a:t>4</a:t>
            </a:fld>
            <a:endParaRPr lang="en-US"/>
          </a:p>
        </p:txBody>
      </p:sp>
    </p:spTree>
    <p:extLst>
      <p:ext uri="{BB962C8B-B14F-4D97-AF65-F5344CB8AC3E}">
        <p14:creationId xmlns:p14="http://schemas.microsoft.com/office/powerpoint/2010/main" val="1750136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3DC64-1FBC-8869-71FA-63F0BDDDB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8367F-71A5-B7B0-4E3D-84E295121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00287-04E1-3A0F-799A-E7E25DE23687}"/>
              </a:ext>
            </a:extLst>
          </p:cNvPr>
          <p:cNvSpPr>
            <a:spLocks noGrp="1"/>
          </p:cNvSpPr>
          <p:nvPr>
            <p:ph type="body" idx="1"/>
          </p:nvPr>
        </p:nvSpPr>
        <p:spPr/>
        <p:txBody>
          <a:bodyPr/>
          <a:lstStyle/>
          <a:p>
            <a:r>
              <a:rPr lang="en-US" dirty="0"/>
              <a:t>Where we were – where we are now</a:t>
            </a:r>
          </a:p>
          <a:p>
            <a:r>
              <a:rPr lang="en-US" dirty="0"/>
              <a:t>If positive, where we were was larger, therefore we were more wrong than we are now</a:t>
            </a:r>
          </a:p>
          <a:p>
            <a:r>
              <a:rPr lang="en-US" dirty="0"/>
              <a:t>If negative, where we are now is larger, therefore we are more wrong now than we were</a:t>
            </a:r>
          </a:p>
          <a:p>
            <a:endParaRPr lang="en-US" dirty="0"/>
          </a:p>
        </p:txBody>
      </p:sp>
      <p:sp>
        <p:nvSpPr>
          <p:cNvPr id="4" name="Slide Number Placeholder 3">
            <a:extLst>
              <a:ext uri="{FF2B5EF4-FFF2-40B4-BE49-F238E27FC236}">
                <a16:creationId xmlns:a16="http://schemas.microsoft.com/office/drawing/2014/main" id="{AFCB18D1-0CBA-26AD-ADBA-FC1E259E6EA7}"/>
              </a:ext>
            </a:extLst>
          </p:cNvPr>
          <p:cNvSpPr>
            <a:spLocks noGrp="1"/>
          </p:cNvSpPr>
          <p:nvPr>
            <p:ph type="sldNum" sz="quarter" idx="5"/>
          </p:nvPr>
        </p:nvSpPr>
        <p:spPr/>
        <p:txBody>
          <a:bodyPr/>
          <a:lstStyle/>
          <a:p>
            <a:fld id="{0586264B-2A73-B649-B9C3-E3B5A598AB86}" type="slidenum">
              <a:rPr lang="en-US" smtClean="0"/>
              <a:t>5</a:t>
            </a:fld>
            <a:endParaRPr lang="en-US"/>
          </a:p>
        </p:txBody>
      </p:sp>
    </p:spTree>
    <p:extLst>
      <p:ext uri="{BB962C8B-B14F-4D97-AF65-F5344CB8AC3E}">
        <p14:creationId xmlns:p14="http://schemas.microsoft.com/office/powerpoint/2010/main" val="2057965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7</a:t>
            </a:fld>
            <a:endParaRPr lang="en-US"/>
          </a:p>
        </p:txBody>
      </p:sp>
    </p:spTree>
    <p:extLst>
      <p:ext uri="{BB962C8B-B14F-4D97-AF65-F5344CB8AC3E}">
        <p14:creationId xmlns:p14="http://schemas.microsoft.com/office/powerpoint/2010/main" val="1663685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D330-C3AF-1C19-2DEF-70D92A993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59B1B-583F-E584-C634-E5D1CEA7F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68C2B-CF2F-EFF3-2551-202DDEA585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13CB6-0FE9-76B5-3A99-7063BC123502}"/>
              </a:ext>
            </a:extLst>
          </p:cNvPr>
          <p:cNvSpPr>
            <a:spLocks noGrp="1"/>
          </p:cNvSpPr>
          <p:nvPr>
            <p:ph type="sldNum" sz="quarter" idx="5"/>
          </p:nvPr>
        </p:nvSpPr>
        <p:spPr/>
        <p:txBody>
          <a:bodyPr/>
          <a:lstStyle/>
          <a:p>
            <a:fld id="{0586264B-2A73-B649-B9C3-E3B5A598AB86}" type="slidenum">
              <a:rPr lang="en-US" smtClean="0"/>
              <a:t>11</a:t>
            </a:fld>
            <a:endParaRPr lang="en-US"/>
          </a:p>
        </p:txBody>
      </p:sp>
    </p:spTree>
    <p:extLst>
      <p:ext uri="{BB962C8B-B14F-4D97-AF65-F5344CB8AC3E}">
        <p14:creationId xmlns:p14="http://schemas.microsoft.com/office/powerpoint/2010/main" val="3264931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12</a:t>
            </a:fld>
            <a:endParaRPr lang="en-US"/>
          </a:p>
        </p:txBody>
      </p:sp>
    </p:spTree>
    <p:extLst>
      <p:ext uri="{BB962C8B-B14F-4D97-AF65-F5344CB8AC3E}">
        <p14:creationId xmlns:p14="http://schemas.microsoft.com/office/powerpoint/2010/main" val="3101886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1C555-4A73-5DFA-FB64-01ED81F87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F9624-EDC1-41B7-74C4-A4BBD87B6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7A631-F756-715D-1227-A3BFAACF72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t>Best outcome overall (pay attention to how we define this – includes broad and shallow or deep and narrow, but some fields prefer one or the other) would be no publication bias, no replications, and smallish sample sizes so that we can investigate many effects</a:t>
            </a:r>
            <a:endParaRPr lang="en-US" sz="1200" dirty="0"/>
          </a:p>
          <a:p>
            <a:endParaRPr lang="en-US" dirty="0"/>
          </a:p>
        </p:txBody>
      </p:sp>
      <p:sp>
        <p:nvSpPr>
          <p:cNvPr id="4" name="Slide Number Placeholder 3">
            <a:extLst>
              <a:ext uri="{FF2B5EF4-FFF2-40B4-BE49-F238E27FC236}">
                <a16:creationId xmlns:a16="http://schemas.microsoft.com/office/drawing/2014/main" id="{EDFAF0F6-307C-3AE1-6420-46B7E28678F7}"/>
              </a:ext>
            </a:extLst>
          </p:cNvPr>
          <p:cNvSpPr>
            <a:spLocks noGrp="1"/>
          </p:cNvSpPr>
          <p:nvPr>
            <p:ph type="sldNum" sz="quarter" idx="5"/>
          </p:nvPr>
        </p:nvSpPr>
        <p:spPr/>
        <p:txBody>
          <a:bodyPr/>
          <a:lstStyle/>
          <a:p>
            <a:fld id="{0586264B-2A73-B649-B9C3-E3B5A598AB86}" type="slidenum">
              <a:rPr lang="en-US" smtClean="0"/>
              <a:t>13</a:t>
            </a:fld>
            <a:endParaRPr lang="en-US"/>
          </a:p>
        </p:txBody>
      </p:sp>
    </p:spTree>
    <p:extLst>
      <p:ext uri="{BB962C8B-B14F-4D97-AF65-F5344CB8AC3E}">
        <p14:creationId xmlns:p14="http://schemas.microsoft.com/office/powerpoint/2010/main" val="546933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t>Best outcome overall (pay attention to how we define this – includes broad and shallow or deep and narrow, but some fields prefer one or the other) would be no publication bias, no replications, and smallish sample sizes so that we can investigate many effects</a:t>
            </a:r>
            <a:endParaRPr lang="en-US" sz="1200" dirty="0"/>
          </a:p>
          <a:p>
            <a:pPr marL="0" indent="0">
              <a:buNone/>
            </a:pPr>
            <a:r>
              <a:rPr lang="en-AU" b="1" dirty="0"/>
              <a:t>BUT!</a:t>
            </a:r>
          </a:p>
          <a:p>
            <a:r>
              <a:rPr lang="en-AU" sz="1200" b="1" dirty="0"/>
              <a:t>Without publication bias, there would be very little need for direct replications at all</a:t>
            </a:r>
          </a:p>
          <a:p>
            <a:r>
              <a:rPr lang="en-AU" sz="1200" b="1" dirty="0"/>
              <a:t>The best scientific progress comes from models with no publication bias, no replications, and modest sample sizes (depending on your definition of scientific progress…)</a:t>
            </a:r>
          </a:p>
          <a:p>
            <a:endParaRPr lang="en-US" dirty="0"/>
          </a:p>
        </p:txBody>
      </p:sp>
      <p:sp>
        <p:nvSpPr>
          <p:cNvPr id="4" name="Slide Number Placeholder 3"/>
          <p:cNvSpPr>
            <a:spLocks noGrp="1"/>
          </p:cNvSpPr>
          <p:nvPr>
            <p:ph type="sldNum" sz="quarter" idx="5"/>
          </p:nvPr>
        </p:nvSpPr>
        <p:spPr/>
        <p:txBody>
          <a:bodyPr/>
          <a:lstStyle/>
          <a:p>
            <a:fld id="{0586264B-2A73-B649-B9C3-E3B5A598AB86}" type="slidenum">
              <a:rPr lang="en-US" smtClean="0"/>
              <a:t>14</a:t>
            </a:fld>
            <a:endParaRPr lang="en-US"/>
          </a:p>
        </p:txBody>
      </p:sp>
    </p:spTree>
    <p:extLst>
      <p:ext uri="{BB962C8B-B14F-4D97-AF65-F5344CB8AC3E}">
        <p14:creationId xmlns:p14="http://schemas.microsoft.com/office/powerpoint/2010/main" val="3540125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38C0D-E14E-1711-DA09-F023FE75E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D84CE-597E-698F-65F3-CD11AAD85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1CDBB-4A98-1670-1C18-B531C25DB8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F6264-E287-58DE-8373-B61551CC4EA9}"/>
              </a:ext>
            </a:extLst>
          </p:cNvPr>
          <p:cNvSpPr>
            <a:spLocks noGrp="1"/>
          </p:cNvSpPr>
          <p:nvPr>
            <p:ph type="sldNum" sz="quarter" idx="5"/>
          </p:nvPr>
        </p:nvSpPr>
        <p:spPr/>
        <p:txBody>
          <a:bodyPr/>
          <a:lstStyle/>
          <a:p>
            <a:fld id="{0586264B-2A73-B649-B9C3-E3B5A598AB86}" type="slidenum">
              <a:rPr lang="en-US" smtClean="0"/>
              <a:t>15</a:t>
            </a:fld>
            <a:endParaRPr lang="en-US"/>
          </a:p>
        </p:txBody>
      </p:sp>
    </p:spTree>
    <p:extLst>
      <p:ext uri="{BB962C8B-B14F-4D97-AF65-F5344CB8AC3E}">
        <p14:creationId xmlns:p14="http://schemas.microsoft.com/office/powerpoint/2010/main" val="1139324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1D158-D11D-4FE2-CFBB-EA6635294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D2D39-AEC1-F378-165A-866632E46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1B982-B50A-816E-7665-F66019F649F5}"/>
              </a:ext>
            </a:extLst>
          </p:cNvPr>
          <p:cNvSpPr>
            <a:spLocks noGrp="1"/>
          </p:cNvSpPr>
          <p:nvPr>
            <p:ph type="body" idx="1"/>
          </p:nvPr>
        </p:nvSpPr>
        <p:spPr/>
        <p:txBody>
          <a:bodyPr/>
          <a:lstStyle/>
          <a:p>
            <a:r>
              <a:rPr lang="en-US" dirty="0"/>
              <a:t>High publication bias</a:t>
            </a:r>
          </a:p>
          <a:p>
            <a:r>
              <a:rPr lang="en-US" dirty="0"/>
              <a:t>Calibrate publication bias such that 93% of published original studies are significant</a:t>
            </a:r>
          </a:p>
          <a:p>
            <a:r>
              <a:rPr lang="en-US" dirty="0"/>
              <a:t>0-3% replications</a:t>
            </a:r>
          </a:p>
          <a:p>
            <a:endParaRPr lang="en-US" dirty="0"/>
          </a:p>
        </p:txBody>
      </p:sp>
      <p:sp>
        <p:nvSpPr>
          <p:cNvPr id="4" name="Slide Number Placeholder 3">
            <a:extLst>
              <a:ext uri="{FF2B5EF4-FFF2-40B4-BE49-F238E27FC236}">
                <a16:creationId xmlns:a16="http://schemas.microsoft.com/office/drawing/2014/main" id="{AC8F7304-9297-0D2E-7443-8B7291E781C9}"/>
              </a:ext>
            </a:extLst>
          </p:cNvPr>
          <p:cNvSpPr>
            <a:spLocks noGrp="1"/>
          </p:cNvSpPr>
          <p:nvPr>
            <p:ph type="sldNum" sz="quarter" idx="5"/>
          </p:nvPr>
        </p:nvSpPr>
        <p:spPr/>
        <p:txBody>
          <a:bodyPr/>
          <a:lstStyle/>
          <a:p>
            <a:fld id="{0586264B-2A73-B649-B9C3-E3B5A598AB86}" type="slidenum">
              <a:rPr lang="en-US" smtClean="0"/>
              <a:t>16</a:t>
            </a:fld>
            <a:endParaRPr lang="en-US"/>
          </a:p>
        </p:txBody>
      </p:sp>
    </p:spTree>
    <p:extLst>
      <p:ext uri="{BB962C8B-B14F-4D97-AF65-F5344CB8AC3E}">
        <p14:creationId xmlns:p14="http://schemas.microsoft.com/office/powerpoint/2010/main" val="1194699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A4569-5A5B-6360-0408-ADB38075F23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EF500EE-2589-4566-4EB8-104CD0ACFE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5ACA428-8ECB-9590-2B21-5B44EE2675F4}"/>
              </a:ext>
            </a:extLst>
          </p:cNvPr>
          <p:cNvSpPr>
            <a:spLocks noGrp="1"/>
          </p:cNvSpPr>
          <p:nvPr>
            <p:ph type="dt" sz="half" idx="10"/>
          </p:nvPr>
        </p:nvSpPr>
        <p:spPr/>
        <p:txBody>
          <a:bodyPr/>
          <a:lstStyle/>
          <a:p>
            <a:fld id="{5C9CC1C2-5DF2-8B4C-BC24-7A0592618519}" type="datetime1">
              <a:rPr lang="en-AU" smtClean="0"/>
              <a:t>10/6/2026</a:t>
            </a:fld>
            <a:endParaRPr lang="en-US"/>
          </a:p>
        </p:txBody>
      </p:sp>
      <p:sp>
        <p:nvSpPr>
          <p:cNvPr id="5" name="Footer Placeholder 4">
            <a:extLst>
              <a:ext uri="{FF2B5EF4-FFF2-40B4-BE49-F238E27FC236}">
                <a16:creationId xmlns:a16="http://schemas.microsoft.com/office/drawing/2014/main" id="{F2BC8CB1-6293-A64D-21BE-A6AA1E1C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835EC2-E56D-DEB7-BCE6-37E438E7E273}"/>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577800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8A26-0861-7B71-DD12-2BF4BD6AC72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E6E9259-941B-615C-255D-919BC2A48E9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4C448C-097D-1F77-4D80-613631B86DB0}"/>
              </a:ext>
            </a:extLst>
          </p:cNvPr>
          <p:cNvSpPr>
            <a:spLocks noGrp="1"/>
          </p:cNvSpPr>
          <p:nvPr>
            <p:ph type="dt" sz="half" idx="10"/>
          </p:nvPr>
        </p:nvSpPr>
        <p:spPr/>
        <p:txBody>
          <a:bodyPr/>
          <a:lstStyle/>
          <a:p>
            <a:fld id="{1CEC5A66-A25A-B143-89EF-69618DEC6CA5}" type="datetime1">
              <a:rPr lang="en-AU" smtClean="0"/>
              <a:t>10/6/2026</a:t>
            </a:fld>
            <a:endParaRPr lang="en-US"/>
          </a:p>
        </p:txBody>
      </p:sp>
      <p:sp>
        <p:nvSpPr>
          <p:cNvPr id="5" name="Footer Placeholder 4">
            <a:extLst>
              <a:ext uri="{FF2B5EF4-FFF2-40B4-BE49-F238E27FC236}">
                <a16:creationId xmlns:a16="http://schemas.microsoft.com/office/drawing/2014/main" id="{598EDE6D-332E-EAAF-88D3-97D959E5F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86492-9AF8-F8E5-102D-EE4119EEBD37}"/>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3871027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3D2D5-A6A8-3BEA-2D7B-B43023B0905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A06150D-9EED-4993-5987-8CA5C08048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B9D3D1-EAC2-6B98-580B-B97F49BB14DC}"/>
              </a:ext>
            </a:extLst>
          </p:cNvPr>
          <p:cNvSpPr>
            <a:spLocks noGrp="1"/>
          </p:cNvSpPr>
          <p:nvPr>
            <p:ph type="dt" sz="half" idx="10"/>
          </p:nvPr>
        </p:nvSpPr>
        <p:spPr/>
        <p:txBody>
          <a:bodyPr/>
          <a:lstStyle/>
          <a:p>
            <a:fld id="{5EE7E5ED-CD93-9843-B4D2-8D55B180CE05}" type="datetime1">
              <a:rPr lang="en-AU" smtClean="0"/>
              <a:t>10/6/2026</a:t>
            </a:fld>
            <a:endParaRPr lang="en-US"/>
          </a:p>
        </p:txBody>
      </p:sp>
      <p:sp>
        <p:nvSpPr>
          <p:cNvPr id="5" name="Footer Placeholder 4">
            <a:extLst>
              <a:ext uri="{FF2B5EF4-FFF2-40B4-BE49-F238E27FC236}">
                <a16:creationId xmlns:a16="http://schemas.microsoft.com/office/drawing/2014/main" id="{3ED8D9C6-10A8-C011-BDB8-FF42D62B9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FAB208-EC4E-6BDE-E79E-2470BF331D9E}"/>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707279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4729E-7285-CD91-49DF-AA83E75F523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A4422F-562E-1868-0AFC-45DA2BDE942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63F7C4-8377-6B06-D713-5748DE7649C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9E251C6-43B3-71D2-B50D-5BDED0B8A8C5}"/>
              </a:ext>
            </a:extLst>
          </p:cNvPr>
          <p:cNvSpPr>
            <a:spLocks noGrp="1"/>
          </p:cNvSpPr>
          <p:nvPr>
            <p:ph type="dt" sz="half" idx="10"/>
          </p:nvPr>
        </p:nvSpPr>
        <p:spPr/>
        <p:txBody>
          <a:bodyPr/>
          <a:lstStyle/>
          <a:p>
            <a:fld id="{4BFBE5DC-09D8-9942-8103-21602AC88A89}" type="datetime1">
              <a:rPr lang="en-AU" smtClean="0"/>
              <a:t>10/6/2026</a:t>
            </a:fld>
            <a:endParaRPr lang="en-US"/>
          </a:p>
        </p:txBody>
      </p:sp>
      <p:sp>
        <p:nvSpPr>
          <p:cNvPr id="6" name="Footer Placeholder 5">
            <a:extLst>
              <a:ext uri="{FF2B5EF4-FFF2-40B4-BE49-F238E27FC236}">
                <a16:creationId xmlns:a16="http://schemas.microsoft.com/office/drawing/2014/main" id="{FF4ED84A-0863-B314-9B7E-8553DEA90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EE478-447D-D073-C39D-000DEC711388}"/>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339517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E3C8-1E3C-066A-22AC-AED8E2ED79C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A2D9FD7-67C9-DEE4-8E9B-875C7F390C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FAFB2D1-35DD-35B6-524D-A7E3E867977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76447AA-A7CC-9EBE-272D-FB5C7C2D23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F1B3B69-A82B-CE7A-735D-31F5A6E57B0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A3537D6-8CF2-DD1B-298B-75D90E562689}"/>
              </a:ext>
            </a:extLst>
          </p:cNvPr>
          <p:cNvSpPr>
            <a:spLocks noGrp="1"/>
          </p:cNvSpPr>
          <p:nvPr>
            <p:ph type="dt" sz="half" idx="10"/>
          </p:nvPr>
        </p:nvSpPr>
        <p:spPr/>
        <p:txBody>
          <a:bodyPr/>
          <a:lstStyle/>
          <a:p>
            <a:fld id="{0E1BE010-42E8-0C44-9ACC-DACB186A7944}" type="datetime1">
              <a:rPr lang="en-AU" smtClean="0"/>
              <a:t>10/6/2026</a:t>
            </a:fld>
            <a:endParaRPr lang="en-US"/>
          </a:p>
        </p:txBody>
      </p:sp>
      <p:sp>
        <p:nvSpPr>
          <p:cNvPr id="8" name="Footer Placeholder 7">
            <a:extLst>
              <a:ext uri="{FF2B5EF4-FFF2-40B4-BE49-F238E27FC236}">
                <a16:creationId xmlns:a16="http://schemas.microsoft.com/office/drawing/2014/main" id="{C150B331-B2AD-9843-F9ED-715553ACC0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2C9618-1D1F-640B-E862-DDC47F26B98C}"/>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1781653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2F5BC-0A88-5C5B-0A57-381A64AA1E6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B3D42CC-53A9-0C8A-A9AD-F5699BE9FA6D}"/>
              </a:ext>
            </a:extLst>
          </p:cNvPr>
          <p:cNvSpPr>
            <a:spLocks noGrp="1"/>
          </p:cNvSpPr>
          <p:nvPr>
            <p:ph type="dt" sz="half" idx="10"/>
          </p:nvPr>
        </p:nvSpPr>
        <p:spPr/>
        <p:txBody>
          <a:bodyPr/>
          <a:lstStyle/>
          <a:p>
            <a:fld id="{DB4CB461-6EB7-4040-B0FF-D71A53AE25EA}" type="datetime1">
              <a:rPr lang="en-AU" smtClean="0"/>
              <a:t>10/6/2026</a:t>
            </a:fld>
            <a:endParaRPr lang="en-US"/>
          </a:p>
        </p:txBody>
      </p:sp>
      <p:sp>
        <p:nvSpPr>
          <p:cNvPr id="4" name="Footer Placeholder 3">
            <a:extLst>
              <a:ext uri="{FF2B5EF4-FFF2-40B4-BE49-F238E27FC236}">
                <a16:creationId xmlns:a16="http://schemas.microsoft.com/office/drawing/2014/main" id="{5294376F-6D36-7ABC-5C66-7B29D9637F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CD63D5-0D13-AE9D-B4DC-286767F36767}"/>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2151177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400776-2A02-9637-61B3-869D481D13A0}"/>
              </a:ext>
            </a:extLst>
          </p:cNvPr>
          <p:cNvSpPr>
            <a:spLocks noGrp="1"/>
          </p:cNvSpPr>
          <p:nvPr>
            <p:ph type="dt" sz="half" idx="10"/>
          </p:nvPr>
        </p:nvSpPr>
        <p:spPr/>
        <p:txBody>
          <a:bodyPr/>
          <a:lstStyle/>
          <a:p>
            <a:fld id="{3AF9829D-A805-924E-9C28-E34FBAA0F94C}" type="datetime1">
              <a:rPr lang="en-AU" smtClean="0"/>
              <a:t>10/6/2026</a:t>
            </a:fld>
            <a:endParaRPr lang="en-US"/>
          </a:p>
        </p:txBody>
      </p:sp>
      <p:sp>
        <p:nvSpPr>
          <p:cNvPr id="3" name="Footer Placeholder 2">
            <a:extLst>
              <a:ext uri="{FF2B5EF4-FFF2-40B4-BE49-F238E27FC236}">
                <a16:creationId xmlns:a16="http://schemas.microsoft.com/office/drawing/2014/main" id="{6035A482-E0AD-54E4-4343-088FC4D7A1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5D0340-24C2-643A-D80B-E8DE59EA42D8}"/>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298181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A265-2ECC-25D5-36FE-E1DD8D6AC1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6F916D6-3160-4D32-5DB4-32E1761E2F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01857DC-F01D-D493-834F-F4838AA5E3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CD3E6A-006C-1E3E-45F3-E00BFD39166D}"/>
              </a:ext>
            </a:extLst>
          </p:cNvPr>
          <p:cNvSpPr>
            <a:spLocks noGrp="1"/>
          </p:cNvSpPr>
          <p:nvPr>
            <p:ph type="dt" sz="half" idx="10"/>
          </p:nvPr>
        </p:nvSpPr>
        <p:spPr/>
        <p:txBody>
          <a:bodyPr/>
          <a:lstStyle/>
          <a:p>
            <a:fld id="{46D113DC-6CA8-D74A-BAE5-8BD41889E1AE}" type="datetime1">
              <a:rPr lang="en-AU" smtClean="0"/>
              <a:t>10/6/2026</a:t>
            </a:fld>
            <a:endParaRPr lang="en-US"/>
          </a:p>
        </p:txBody>
      </p:sp>
      <p:sp>
        <p:nvSpPr>
          <p:cNvPr id="6" name="Footer Placeholder 5">
            <a:extLst>
              <a:ext uri="{FF2B5EF4-FFF2-40B4-BE49-F238E27FC236}">
                <a16:creationId xmlns:a16="http://schemas.microsoft.com/office/drawing/2014/main" id="{57A24AF8-F947-EECA-A601-99BB81359A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C9D8C5-D7BD-E8AD-71D3-1525222F9581}"/>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1656028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FDFF-D3F0-F545-FB45-2D05550ED14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CAD0766-D030-64D2-4D71-BCF5D948A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FB1F79-AF03-0270-B403-E06A657E88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FBA9DE5-C54D-EA63-317B-624ED0E8D40E}"/>
              </a:ext>
            </a:extLst>
          </p:cNvPr>
          <p:cNvSpPr>
            <a:spLocks noGrp="1"/>
          </p:cNvSpPr>
          <p:nvPr>
            <p:ph type="dt" sz="half" idx="10"/>
          </p:nvPr>
        </p:nvSpPr>
        <p:spPr/>
        <p:txBody>
          <a:bodyPr/>
          <a:lstStyle/>
          <a:p>
            <a:fld id="{5DE338F3-BE7E-9D4E-B319-E13FB53A4417}" type="datetime1">
              <a:rPr lang="en-AU" smtClean="0"/>
              <a:t>10/6/2026</a:t>
            </a:fld>
            <a:endParaRPr lang="en-US"/>
          </a:p>
        </p:txBody>
      </p:sp>
      <p:sp>
        <p:nvSpPr>
          <p:cNvPr id="6" name="Footer Placeholder 5">
            <a:extLst>
              <a:ext uri="{FF2B5EF4-FFF2-40B4-BE49-F238E27FC236}">
                <a16:creationId xmlns:a16="http://schemas.microsoft.com/office/drawing/2014/main" id="{77F37C86-0AC0-DA53-7D5D-FB9F387BE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141C1-59AF-72C3-8482-24D30E62C04C}"/>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1426629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55D8-F590-53CA-3E75-97FA4702166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0B9A6C5-4171-EB19-3980-F6BCA4DB49A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46F1A0D-29C2-BCE5-9A4B-C6030344CB21}"/>
              </a:ext>
            </a:extLst>
          </p:cNvPr>
          <p:cNvSpPr>
            <a:spLocks noGrp="1"/>
          </p:cNvSpPr>
          <p:nvPr>
            <p:ph type="dt" sz="half" idx="10"/>
          </p:nvPr>
        </p:nvSpPr>
        <p:spPr/>
        <p:txBody>
          <a:bodyPr/>
          <a:lstStyle/>
          <a:p>
            <a:fld id="{458E5F2E-AB21-EF4A-9053-61FCB87203C2}" type="datetime1">
              <a:rPr lang="en-AU" smtClean="0"/>
              <a:t>10/6/2026</a:t>
            </a:fld>
            <a:endParaRPr lang="en-US"/>
          </a:p>
        </p:txBody>
      </p:sp>
      <p:sp>
        <p:nvSpPr>
          <p:cNvPr id="5" name="Footer Placeholder 4">
            <a:extLst>
              <a:ext uri="{FF2B5EF4-FFF2-40B4-BE49-F238E27FC236}">
                <a16:creationId xmlns:a16="http://schemas.microsoft.com/office/drawing/2014/main" id="{FD3A8EFF-70CE-BBA1-5D98-22DDA346D4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FA6A39-95E9-8DA9-D1BD-452105FB1A9E}"/>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87801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E99B9A-0660-6272-12A4-E8A0D264613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7ADE1BC-1C7D-94CF-0317-72D4CE1EC19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A376FA5-05CC-0E5C-CA3B-354FB5D838A3}"/>
              </a:ext>
            </a:extLst>
          </p:cNvPr>
          <p:cNvSpPr>
            <a:spLocks noGrp="1"/>
          </p:cNvSpPr>
          <p:nvPr>
            <p:ph type="dt" sz="half" idx="10"/>
          </p:nvPr>
        </p:nvSpPr>
        <p:spPr/>
        <p:txBody>
          <a:bodyPr/>
          <a:lstStyle/>
          <a:p>
            <a:fld id="{4AEE03AB-610D-E445-9C78-6F05CFEA3826}" type="datetime1">
              <a:rPr lang="en-AU" smtClean="0"/>
              <a:t>10/6/2026</a:t>
            </a:fld>
            <a:endParaRPr lang="en-US"/>
          </a:p>
        </p:txBody>
      </p:sp>
      <p:sp>
        <p:nvSpPr>
          <p:cNvPr id="5" name="Footer Placeholder 4">
            <a:extLst>
              <a:ext uri="{FF2B5EF4-FFF2-40B4-BE49-F238E27FC236}">
                <a16:creationId xmlns:a16="http://schemas.microsoft.com/office/drawing/2014/main" id="{BB653BC9-4286-C422-EE07-839D723AE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A3EC6-F06D-29AE-3695-57F4243D0C50}"/>
              </a:ext>
            </a:extLst>
          </p:cNvPr>
          <p:cNvSpPr>
            <a:spLocks noGrp="1"/>
          </p:cNvSpPr>
          <p:nvPr>
            <p:ph type="sldNum" sz="quarter" idx="12"/>
          </p:nvPr>
        </p:nvSpPr>
        <p:spPr/>
        <p:txBody>
          <a:bodyPr/>
          <a:lstStyle/>
          <a:p>
            <a:fld id="{31FF4958-03C2-D046-B93E-A6943D85A75D}" type="slidenum">
              <a:rPr lang="en-US" smtClean="0"/>
              <a:t>‹#›</a:t>
            </a:fld>
            <a:endParaRPr lang="en-US"/>
          </a:p>
        </p:txBody>
      </p:sp>
    </p:spTree>
    <p:extLst>
      <p:ext uri="{BB962C8B-B14F-4D97-AF65-F5344CB8AC3E}">
        <p14:creationId xmlns:p14="http://schemas.microsoft.com/office/powerpoint/2010/main" val="2642451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881CBB-C1E5-E03B-A2FA-039EDAAFAC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45B0AED-8E97-01D5-1703-EFDB73732F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B926B7-CF21-27FE-64CB-44AC663A5A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5FF35-42C2-9345-BCEF-21FF9FCE0D42}" type="datetime1">
              <a:rPr lang="en-AU" smtClean="0"/>
              <a:t>10/6/2026</a:t>
            </a:fld>
            <a:endParaRPr lang="en-US"/>
          </a:p>
        </p:txBody>
      </p:sp>
      <p:sp>
        <p:nvSpPr>
          <p:cNvPr id="5" name="Footer Placeholder 4">
            <a:extLst>
              <a:ext uri="{FF2B5EF4-FFF2-40B4-BE49-F238E27FC236}">
                <a16:creationId xmlns:a16="http://schemas.microsoft.com/office/drawing/2014/main" id="{6B93F085-15A6-0A60-32F9-4477B76DCB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77B538-C5E1-0804-3D9D-71369708779E}"/>
              </a:ext>
            </a:extLst>
          </p:cNvPr>
          <p:cNvSpPr>
            <a:spLocks noGrp="1"/>
          </p:cNvSpPr>
          <p:nvPr>
            <p:ph type="sldNum" sz="quarter" idx="4"/>
          </p:nvPr>
        </p:nvSpPr>
        <p:spPr>
          <a:xfrm>
            <a:off x="9370995" y="11509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FF4958-03C2-D046-B93E-A6943D85A75D}" type="slidenum">
              <a:rPr lang="en-US" smtClean="0"/>
              <a:t>‹#›</a:t>
            </a:fld>
            <a:endParaRPr lang="en-US"/>
          </a:p>
        </p:txBody>
      </p:sp>
    </p:spTree>
    <p:extLst>
      <p:ext uri="{BB962C8B-B14F-4D97-AF65-F5344CB8AC3E}">
        <p14:creationId xmlns:p14="http://schemas.microsoft.com/office/powerpoint/2010/main" val="2054366548"/>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2.png"/><Relationship Id="rId7"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3.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 name="Round Diagonal Corner of Rectangle 8">
            <a:extLst>
              <a:ext uri="{FF2B5EF4-FFF2-40B4-BE49-F238E27FC236}">
                <a16:creationId xmlns:a16="http://schemas.microsoft.com/office/drawing/2014/main" id="{59FF998C-3BA4-EBA4-F0D5-B92CE2E0D6AE}"/>
              </a:ext>
            </a:extLst>
          </p:cNvPr>
          <p:cNvSpPr/>
          <p:nvPr/>
        </p:nvSpPr>
        <p:spPr>
          <a:xfrm>
            <a:off x="1377865" y="1728558"/>
            <a:ext cx="9336130" cy="2718616"/>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2C358-C2E2-EFFC-AF5C-432E87609552}"/>
              </a:ext>
            </a:extLst>
          </p:cNvPr>
          <p:cNvSpPr>
            <a:spLocks noGrp="1"/>
          </p:cNvSpPr>
          <p:nvPr>
            <p:ph type="ctrTitle"/>
          </p:nvPr>
        </p:nvSpPr>
        <p:spPr>
          <a:xfrm>
            <a:off x="1473930" y="1785454"/>
            <a:ext cx="9144000" cy="2387600"/>
          </a:xfrm>
          <a:noFill/>
        </p:spPr>
        <p:txBody>
          <a:bodyPr anchor="ctr">
            <a:noAutofit/>
          </a:bodyPr>
          <a:lstStyle/>
          <a:p>
            <a:r>
              <a:rPr lang="en-US" sz="4000" dirty="0">
                <a:solidFill>
                  <a:sysClr val="windowText" lastClr="000000"/>
                </a:solidFill>
                <a:latin typeface="Britannic Bold" panose="020B0903060703020204" pitchFamily="34" charset="77"/>
                <a:ea typeface="+mn-ea"/>
                <a:cs typeface="+mn-cs"/>
              </a:rPr>
              <a:t>Balancing</a:t>
            </a:r>
            <a:r>
              <a:rPr lang="en-US" sz="4800" dirty="0">
                <a:latin typeface="Calibri" panose="020F0502020204030204" pitchFamily="34" charset="0"/>
                <a:cs typeface="Calibri" panose="020F0502020204030204" pitchFamily="34" charset="0"/>
              </a:rPr>
              <a:t> </a:t>
            </a:r>
            <a:r>
              <a:rPr lang="en-US" sz="4000" dirty="0">
                <a:solidFill>
                  <a:sysClr val="windowText" lastClr="000000"/>
                </a:solidFill>
                <a:latin typeface="Britannic Bold" panose="020B0903060703020204" pitchFamily="34" charset="77"/>
                <a:ea typeface="+mn-ea"/>
                <a:cs typeface="+mn-cs"/>
              </a:rPr>
              <a:t>Novelty and Replication:</a:t>
            </a:r>
            <a:br>
              <a:rPr lang="en-US" sz="4000" dirty="0">
                <a:solidFill>
                  <a:sysClr val="windowText" lastClr="000000"/>
                </a:solidFill>
                <a:latin typeface="Britannic Bold" panose="020B0903060703020204" pitchFamily="34" charset="77"/>
                <a:ea typeface="+mn-ea"/>
                <a:cs typeface="+mn-cs"/>
              </a:rPr>
            </a:br>
            <a:r>
              <a:rPr lang="en-US" sz="4000" dirty="0">
                <a:solidFill>
                  <a:sysClr val="windowText" lastClr="000000"/>
                </a:solidFill>
                <a:latin typeface="Britannic Bold" panose="020B0903060703020204" pitchFamily="34" charset="77"/>
                <a:ea typeface="+mn-ea"/>
                <a:cs typeface="+mn-cs"/>
              </a:rPr>
              <a:t>Insights from Evolutionary Simulations</a:t>
            </a:r>
          </a:p>
        </p:txBody>
      </p:sp>
      <p:sp>
        <p:nvSpPr>
          <p:cNvPr id="3" name="Subtitle 2">
            <a:extLst>
              <a:ext uri="{FF2B5EF4-FFF2-40B4-BE49-F238E27FC236}">
                <a16:creationId xmlns:a16="http://schemas.microsoft.com/office/drawing/2014/main" id="{878AA45B-2F75-AB68-349C-E414D6E67BAD}"/>
              </a:ext>
            </a:extLst>
          </p:cNvPr>
          <p:cNvSpPr>
            <a:spLocks noGrp="1"/>
          </p:cNvSpPr>
          <p:nvPr>
            <p:ph type="subTitle" idx="1"/>
          </p:nvPr>
        </p:nvSpPr>
        <p:spPr>
          <a:xfrm>
            <a:off x="1481428" y="3790321"/>
            <a:ext cx="9144000" cy="382733"/>
          </a:xfrm>
          <a:noFill/>
        </p:spPr>
        <p:txBody>
          <a:bodyPr anchor="ctr">
            <a:normAutofit fontScale="92500" lnSpcReduction="10000"/>
          </a:bodyPr>
          <a:lstStyle/>
          <a:p>
            <a:r>
              <a:rPr lang="en-US" dirty="0"/>
              <a:t>Kati Harper, Felix </a:t>
            </a:r>
            <a:r>
              <a:rPr lang="en-US" dirty="0" err="1"/>
              <a:t>Schönbrodt</a:t>
            </a:r>
            <a:endParaRPr lang="en-US" dirty="0"/>
          </a:p>
        </p:txBody>
      </p:sp>
      <p:grpSp>
        <p:nvGrpSpPr>
          <p:cNvPr id="4" name="Group 3">
            <a:extLst>
              <a:ext uri="{FF2B5EF4-FFF2-40B4-BE49-F238E27FC236}">
                <a16:creationId xmlns:a16="http://schemas.microsoft.com/office/drawing/2014/main" id="{8F9BE18F-9ED1-4FA6-2018-34E6E96C851F}"/>
              </a:ext>
            </a:extLst>
          </p:cNvPr>
          <p:cNvGrpSpPr/>
          <p:nvPr/>
        </p:nvGrpSpPr>
        <p:grpSpPr>
          <a:xfrm>
            <a:off x="8295047" y="5409537"/>
            <a:ext cx="3792570" cy="1341668"/>
            <a:chOff x="4224088" y="4056726"/>
            <a:chExt cx="3792570" cy="1341668"/>
          </a:xfrm>
        </p:grpSpPr>
        <p:pic>
          <p:nvPicPr>
            <p:cNvPr id="5" name="Picture 2" descr="meta-rep1-logo">
              <a:extLst>
                <a:ext uri="{FF2B5EF4-FFF2-40B4-BE49-F238E27FC236}">
                  <a16:creationId xmlns:a16="http://schemas.microsoft.com/office/drawing/2014/main" id="{5C255324-72A3-23FB-825F-1DEF839D47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090" t="11864" r="27517"/>
            <a:stretch/>
          </p:blipFill>
          <p:spPr bwMode="auto">
            <a:xfrm>
              <a:off x="4224088" y="4070038"/>
              <a:ext cx="2330381" cy="1315044"/>
            </a:xfrm>
            <a:prstGeom prst="rect">
              <a:avLst/>
            </a:prstGeom>
            <a:noFill/>
            <a:ln w="28575">
              <a:solidFill>
                <a:srgbClr val="32904D"/>
              </a:solidFill>
            </a:ln>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6762C871-B92D-25B4-7A98-DB832BEFBF0A}"/>
                </a:ext>
              </a:extLst>
            </p:cNvPr>
            <p:cNvGrpSpPr/>
            <p:nvPr/>
          </p:nvGrpSpPr>
          <p:grpSpPr>
            <a:xfrm>
              <a:off x="6676554" y="4056726"/>
              <a:ext cx="1340104" cy="1341668"/>
              <a:chOff x="6676554" y="4056726"/>
              <a:chExt cx="1340104" cy="1341668"/>
            </a:xfrm>
          </p:grpSpPr>
          <p:sp>
            <p:nvSpPr>
              <p:cNvPr id="7" name="Rectangle 6">
                <a:extLst>
                  <a:ext uri="{FF2B5EF4-FFF2-40B4-BE49-F238E27FC236}">
                    <a16:creationId xmlns:a16="http://schemas.microsoft.com/office/drawing/2014/main" id="{7346A9F4-1A8F-0C05-B54C-304C51659F41}"/>
                  </a:ext>
                </a:extLst>
              </p:cNvPr>
              <p:cNvSpPr/>
              <p:nvPr/>
            </p:nvSpPr>
            <p:spPr>
              <a:xfrm>
                <a:off x="6676554" y="4056726"/>
                <a:ext cx="1340104" cy="1341668"/>
              </a:xfrm>
              <a:prstGeom prst="rect">
                <a:avLst/>
              </a:prstGeom>
              <a:solidFill>
                <a:schemeClr val="bg1"/>
              </a:solidFill>
              <a:ln w="28575">
                <a:solidFill>
                  <a:srgbClr val="3290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3A8C16B5-1173-857C-EA4D-5D09B807DC72}"/>
                  </a:ext>
                </a:extLst>
              </p:cNvPr>
              <p:cNvPicPr>
                <a:picLocks noChangeAspect="1"/>
              </p:cNvPicPr>
              <p:nvPr/>
            </p:nvPicPr>
            <p:blipFill rotWithShape="1">
              <a:blip r:embed="rId3"/>
              <a:srcRect l="14009" t="41297" r="74568" b="4687"/>
              <a:stretch/>
            </p:blipFill>
            <p:spPr>
              <a:xfrm>
                <a:off x="6721352" y="4657241"/>
                <a:ext cx="1250508" cy="727841"/>
              </a:xfrm>
              <a:prstGeom prst="rect">
                <a:avLst/>
              </a:prstGeom>
            </p:spPr>
          </p:pic>
        </p:grpSp>
      </p:grpSp>
      <p:sp>
        <p:nvSpPr>
          <p:cNvPr id="10" name="Slide Number Placeholder 9">
            <a:extLst>
              <a:ext uri="{FF2B5EF4-FFF2-40B4-BE49-F238E27FC236}">
                <a16:creationId xmlns:a16="http://schemas.microsoft.com/office/drawing/2014/main" id="{8580E024-ECCE-6CBD-0071-3FA1AC21E1BC}"/>
              </a:ext>
            </a:extLst>
          </p:cNvPr>
          <p:cNvSpPr>
            <a:spLocks noGrp="1"/>
          </p:cNvSpPr>
          <p:nvPr>
            <p:ph type="sldNum" sz="quarter" idx="12"/>
          </p:nvPr>
        </p:nvSpPr>
        <p:spPr/>
        <p:txBody>
          <a:bodyPr/>
          <a:lstStyle/>
          <a:p>
            <a:fld id="{31FF4958-03C2-D046-B93E-A6943D85A75D}" type="slidenum">
              <a:rPr lang="en-US" smtClean="0"/>
              <a:t>1</a:t>
            </a:fld>
            <a:endParaRPr lang="en-US"/>
          </a:p>
        </p:txBody>
      </p:sp>
    </p:spTree>
    <p:extLst>
      <p:ext uri="{BB962C8B-B14F-4D97-AF65-F5344CB8AC3E}">
        <p14:creationId xmlns:p14="http://schemas.microsoft.com/office/powerpoint/2010/main" val="4189874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5" name="Alternative Process 24">
            <a:extLst>
              <a:ext uri="{FF2B5EF4-FFF2-40B4-BE49-F238E27FC236}">
                <a16:creationId xmlns:a16="http://schemas.microsoft.com/office/drawing/2014/main" id="{6F285070-099C-D858-534B-DB4C3B03F52B}"/>
              </a:ext>
            </a:extLst>
          </p:cNvPr>
          <p:cNvSpPr/>
          <p:nvPr/>
        </p:nvSpPr>
        <p:spPr>
          <a:xfrm>
            <a:off x="2195512" y="866175"/>
            <a:ext cx="7800975" cy="1211360"/>
          </a:xfrm>
          <a:prstGeom prst="flowChartAlternateProcess">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Given limited resources,                                                          what’s the ideal proportion of replication research?</a:t>
            </a:r>
          </a:p>
        </p:txBody>
      </p:sp>
      <p:sp>
        <p:nvSpPr>
          <p:cNvPr id="4" name="Rectangle 3">
            <a:extLst>
              <a:ext uri="{FF2B5EF4-FFF2-40B4-BE49-F238E27FC236}">
                <a16:creationId xmlns:a16="http://schemas.microsoft.com/office/drawing/2014/main" id="{B5F8D607-1136-1E82-6DBA-8374C7B4323B}"/>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BACKGROUND</a:t>
            </a:r>
          </a:p>
        </p:txBody>
      </p:sp>
      <p:grpSp>
        <p:nvGrpSpPr>
          <p:cNvPr id="8" name="Group 7">
            <a:extLst>
              <a:ext uri="{FF2B5EF4-FFF2-40B4-BE49-F238E27FC236}">
                <a16:creationId xmlns:a16="http://schemas.microsoft.com/office/drawing/2014/main" id="{B6FBA23C-AFF8-6A5D-9B7D-5972DC29DAE8}"/>
              </a:ext>
            </a:extLst>
          </p:cNvPr>
          <p:cNvGrpSpPr>
            <a:grpSpLocks noChangeAspect="1"/>
          </p:cNvGrpSpPr>
          <p:nvPr/>
        </p:nvGrpSpPr>
        <p:grpSpPr>
          <a:xfrm>
            <a:off x="1452977" y="2159870"/>
            <a:ext cx="3600000" cy="4698130"/>
            <a:chOff x="3494689" y="0"/>
            <a:chExt cx="5255028" cy="6858000"/>
          </a:xfrm>
          <a:effectLst>
            <a:outerShdw blurRad="50800" dist="38100" dir="10800000" algn="r" rotWithShape="0">
              <a:prstClr val="black">
                <a:alpha val="40000"/>
              </a:prstClr>
            </a:outerShdw>
          </a:effectLst>
        </p:grpSpPr>
        <p:sp>
          <p:nvSpPr>
            <p:cNvPr id="6" name="Rectangle 5">
              <a:extLst>
                <a:ext uri="{FF2B5EF4-FFF2-40B4-BE49-F238E27FC236}">
                  <a16:creationId xmlns:a16="http://schemas.microsoft.com/office/drawing/2014/main" id="{A927A6A1-BBEB-10C0-9669-C7D09331D874}"/>
                </a:ext>
              </a:extLst>
            </p:cNvPr>
            <p:cNvSpPr/>
            <p:nvPr/>
          </p:nvSpPr>
          <p:spPr>
            <a:xfrm>
              <a:off x="3498209" y="0"/>
              <a:ext cx="525150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E345C4-4F83-52A4-014A-273B2FB79726}"/>
                </a:ext>
              </a:extLst>
            </p:cNvPr>
            <p:cNvPicPr>
              <a:picLocks noChangeAspect="1"/>
            </p:cNvPicPr>
            <p:nvPr/>
          </p:nvPicPr>
          <p:blipFill>
            <a:blip r:embed="rId3"/>
            <a:stretch>
              <a:fillRect/>
            </a:stretch>
          </p:blipFill>
          <p:spPr>
            <a:xfrm>
              <a:off x="3494689" y="0"/>
              <a:ext cx="5202621" cy="6858000"/>
            </a:xfrm>
            <a:prstGeom prst="rect">
              <a:avLst/>
            </a:prstGeom>
          </p:spPr>
        </p:pic>
      </p:grpSp>
      <p:grpSp>
        <p:nvGrpSpPr>
          <p:cNvPr id="12" name="Group 11">
            <a:extLst>
              <a:ext uri="{FF2B5EF4-FFF2-40B4-BE49-F238E27FC236}">
                <a16:creationId xmlns:a16="http://schemas.microsoft.com/office/drawing/2014/main" id="{3EF98AB1-61C9-71AB-CB01-134E6F507C99}"/>
              </a:ext>
            </a:extLst>
          </p:cNvPr>
          <p:cNvGrpSpPr>
            <a:grpSpLocks noChangeAspect="1"/>
          </p:cNvGrpSpPr>
          <p:nvPr/>
        </p:nvGrpSpPr>
        <p:grpSpPr>
          <a:xfrm>
            <a:off x="2934294" y="2159870"/>
            <a:ext cx="4068112" cy="4897926"/>
            <a:chOff x="3365126" y="0"/>
            <a:chExt cx="5629233" cy="6858000"/>
          </a:xfrm>
          <a:effectLst>
            <a:outerShdw blurRad="50800" dist="38100" dir="10800000" algn="r" rotWithShape="0">
              <a:prstClr val="black">
                <a:alpha val="40000"/>
              </a:prstClr>
            </a:outerShdw>
          </a:effectLst>
        </p:grpSpPr>
        <p:sp>
          <p:nvSpPr>
            <p:cNvPr id="11" name="Rectangle 10">
              <a:extLst>
                <a:ext uri="{FF2B5EF4-FFF2-40B4-BE49-F238E27FC236}">
                  <a16:creationId xmlns:a16="http://schemas.microsoft.com/office/drawing/2014/main" id="{88761AFC-EECD-2129-FE2E-C347D70A1F11}"/>
                </a:ext>
              </a:extLst>
            </p:cNvPr>
            <p:cNvSpPr/>
            <p:nvPr/>
          </p:nvSpPr>
          <p:spPr>
            <a:xfrm>
              <a:off x="3365126" y="171095"/>
              <a:ext cx="5452844" cy="66869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E335AD7-35F0-EC1B-2CAD-26BBED5B7D72}"/>
                </a:ext>
              </a:extLst>
            </p:cNvPr>
            <p:cNvPicPr>
              <a:picLocks noChangeAspect="1"/>
            </p:cNvPicPr>
            <p:nvPr/>
          </p:nvPicPr>
          <p:blipFill>
            <a:blip r:embed="rId4"/>
            <a:stretch>
              <a:fillRect/>
            </a:stretch>
          </p:blipFill>
          <p:spPr>
            <a:xfrm>
              <a:off x="3451592" y="0"/>
              <a:ext cx="5542767" cy="6858000"/>
            </a:xfrm>
            <a:prstGeom prst="rect">
              <a:avLst/>
            </a:prstGeom>
          </p:spPr>
        </p:pic>
      </p:grpSp>
      <p:pic>
        <p:nvPicPr>
          <p:cNvPr id="13" name="Picture 12" descr="A close-up of a newspaper&#10;&#10;AI-generated content may be incorrect.">
            <a:extLst>
              <a:ext uri="{FF2B5EF4-FFF2-40B4-BE49-F238E27FC236}">
                <a16:creationId xmlns:a16="http://schemas.microsoft.com/office/drawing/2014/main" id="{D5808D55-747B-011F-D317-5F103A0855B3}"/>
              </a:ext>
            </a:extLst>
          </p:cNvPr>
          <p:cNvPicPr>
            <a:picLocks noChangeAspect="1"/>
          </p:cNvPicPr>
          <p:nvPr/>
        </p:nvPicPr>
        <p:blipFill>
          <a:blip r:embed="rId5"/>
          <a:stretch>
            <a:fillRect/>
          </a:stretch>
        </p:blipFill>
        <p:spPr>
          <a:xfrm>
            <a:off x="4569111" y="2354219"/>
            <a:ext cx="3597588" cy="5008551"/>
          </a:xfrm>
          <a:prstGeom prst="rect">
            <a:avLst/>
          </a:prstGeom>
          <a:effectLst>
            <a:outerShdw blurRad="50800" dist="38100" dir="10800000" algn="r" rotWithShape="0">
              <a:prstClr val="black">
                <a:alpha val="40000"/>
              </a:prstClr>
            </a:outerShdw>
          </a:effectLst>
        </p:spPr>
      </p:pic>
      <p:grpSp>
        <p:nvGrpSpPr>
          <p:cNvPr id="16" name="Group 15">
            <a:extLst>
              <a:ext uri="{FF2B5EF4-FFF2-40B4-BE49-F238E27FC236}">
                <a16:creationId xmlns:a16="http://schemas.microsoft.com/office/drawing/2014/main" id="{ECB69A99-DE76-3B21-6BEF-E5AA4F8AC3D5}"/>
              </a:ext>
            </a:extLst>
          </p:cNvPr>
          <p:cNvGrpSpPr>
            <a:grpSpLocks noChangeAspect="1"/>
          </p:cNvGrpSpPr>
          <p:nvPr/>
        </p:nvGrpSpPr>
        <p:grpSpPr>
          <a:xfrm>
            <a:off x="5875525" y="2372227"/>
            <a:ext cx="3600000" cy="4990543"/>
            <a:chOff x="-5478127" y="289702"/>
            <a:chExt cx="4953471" cy="6866809"/>
          </a:xfrm>
          <a:effectLst>
            <a:outerShdw blurRad="50800" dist="38100" dir="10800000" algn="r" rotWithShape="0">
              <a:prstClr val="black">
                <a:alpha val="40000"/>
              </a:prstClr>
            </a:outerShdw>
          </a:effectLst>
        </p:grpSpPr>
        <p:sp>
          <p:nvSpPr>
            <p:cNvPr id="15" name="Rectangle 14">
              <a:extLst>
                <a:ext uri="{FF2B5EF4-FFF2-40B4-BE49-F238E27FC236}">
                  <a16:creationId xmlns:a16="http://schemas.microsoft.com/office/drawing/2014/main" id="{FBE93E15-B414-86D3-6F6A-0A616A3882E5}"/>
                </a:ext>
              </a:extLst>
            </p:cNvPr>
            <p:cNvSpPr/>
            <p:nvPr/>
          </p:nvSpPr>
          <p:spPr>
            <a:xfrm>
              <a:off x="-5478127" y="417140"/>
              <a:ext cx="4953471" cy="67393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8930E6D0-0F5A-B4BD-EDEC-06B8DF2ED6F0}"/>
                </a:ext>
              </a:extLst>
            </p:cNvPr>
            <p:cNvPicPr>
              <a:picLocks noChangeAspect="1"/>
            </p:cNvPicPr>
            <p:nvPr/>
          </p:nvPicPr>
          <p:blipFill>
            <a:blip r:embed="rId6"/>
            <a:stretch>
              <a:fillRect/>
            </a:stretch>
          </p:blipFill>
          <p:spPr>
            <a:xfrm>
              <a:off x="-5369035" y="289702"/>
              <a:ext cx="4735286" cy="6858000"/>
            </a:xfrm>
            <a:prstGeom prst="rect">
              <a:avLst/>
            </a:prstGeom>
          </p:spPr>
        </p:pic>
      </p:grpSp>
      <p:grpSp>
        <p:nvGrpSpPr>
          <p:cNvPr id="24" name="Group 23">
            <a:extLst>
              <a:ext uri="{FF2B5EF4-FFF2-40B4-BE49-F238E27FC236}">
                <a16:creationId xmlns:a16="http://schemas.microsoft.com/office/drawing/2014/main" id="{BDA13735-3C20-6BC0-64CC-78E6EC358517}"/>
              </a:ext>
            </a:extLst>
          </p:cNvPr>
          <p:cNvGrpSpPr>
            <a:grpSpLocks noChangeAspect="1"/>
          </p:cNvGrpSpPr>
          <p:nvPr/>
        </p:nvGrpSpPr>
        <p:grpSpPr>
          <a:xfrm>
            <a:off x="6954218" y="2593782"/>
            <a:ext cx="4163129" cy="5355209"/>
            <a:chOff x="10769600" y="0"/>
            <a:chExt cx="5230213" cy="6895220"/>
          </a:xfrm>
          <a:effectLst>
            <a:outerShdw blurRad="50800" dist="38100" dir="10800000" algn="r" rotWithShape="0">
              <a:prstClr val="black">
                <a:alpha val="40000"/>
              </a:prstClr>
            </a:outerShdw>
          </a:effectLst>
        </p:grpSpPr>
        <p:sp>
          <p:nvSpPr>
            <p:cNvPr id="23" name="Rectangle 22">
              <a:extLst>
                <a:ext uri="{FF2B5EF4-FFF2-40B4-BE49-F238E27FC236}">
                  <a16:creationId xmlns:a16="http://schemas.microsoft.com/office/drawing/2014/main" id="{FE016B57-1435-4728-7E9A-40736B63F824}"/>
                </a:ext>
              </a:extLst>
            </p:cNvPr>
            <p:cNvSpPr/>
            <p:nvPr/>
          </p:nvSpPr>
          <p:spPr>
            <a:xfrm>
              <a:off x="10769600" y="0"/>
              <a:ext cx="49022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9EE31B0-86EA-262B-E651-6262B840E7C8}"/>
                </a:ext>
              </a:extLst>
            </p:cNvPr>
            <p:cNvPicPr>
              <a:picLocks noChangeAspect="1"/>
            </p:cNvPicPr>
            <p:nvPr/>
          </p:nvPicPr>
          <p:blipFill>
            <a:blip r:embed="rId7"/>
            <a:stretch>
              <a:fillRect/>
            </a:stretch>
          </p:blipFill>
          <p:spPr>
            <a:xfrm>
              <a:off x="10778381" y="37220"/>
              <a:ext cx="5221432" cy="6858000"/>
            </a:xfrm>
            <a:prstGeom prst="rect">
              <a:avLst/>
            </a:prstGeom>
          </p:spPr>
        </p:pic>
      </p:grpSp>
      <p:sp>
        <p:nvSpPr>
          <p:cNvPr id="2" name="Slide Number Placeholder 1">
            <a:extLst>
              <a:ext uri="{FF2B5EF4-FFF2-40B4-BE49-F238E27FC236}">
                <a16:creationId xmlns:a16="http://schemas.microsoft.com/office/drawing/2014/main" id="{687AB93C-7C65-787B-9392-EF9568AAEC8F}"/>
              </a:ext>
            </a:extLst>
          </p:cNvPr>
          <p:cNvSpPr>
            <a:spLocks noGrp="1"/>
          </p:cNvSpPr>
          <p:nvPr>
            <p:ph type="sldNum" sz="quarter" idx="12"/>
          </p:nvPr>
        </p:nvSpPr>
        <p:spPr/>
        <p:txBody>
          <a:bodyPr/>
          <a:lstStyle/>
          <a:p>
            <a:fld id="{31FF4958-03C2-D046-B93E-A6943D85A75D}" type="slidenum">
              <a:rPr lang="en-US" smtClean="0"/>
              <a:t>2</a:t>
            </a:fld>
            <a:endParaRPr lang="en-US"/>
          </a:p>
        </p:txBody>
      </p:sp>
    </p:spTree>
    <p:extLst>
      <p:ext uri="{BB962C8B-B14F-4D97-AF65-F5344CB8AC3E}">
        <p14:creationId xmlns:p14="http://schemas.microsoft.com/office/powerpoint/2010/main" val="90682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1000"/>
                                        <p:tgtEl>
                                          <p:spTgt spid="25"/>
                                        </p:tgtEl>
                                        <p:attrNameLst>
                                          <p:attrName>ppt_y</p:attrName>
                                        </p:attrNameLst>
                                      </p:cBhvr>
                                      <p:tavLst>
                                        <p:tav tm="0">
                                          <p:val>
                                            <p:strVal val="#ppt_y+#ppt_h*1.125000"/>
                                          </p:val>
                                        </p:tav>
                                        <p:tav tm="100000">
                                          <p:val>
                                            <p:strVal val="#ppt_y"/>
                                          </p:val>
                                        </p:tav>
                                      </p:tavLst>
                                    </p:anim>
                                    <p:animEffect transition="in" filter="wipe(up)">
                                      <p:cBhvr>
                                        <p:cTn id="3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D98EF212-00C0-C57B-FAB4-A6177E51087A}"/>
              </a:ext>
            </a:extLst>
          </p:cNvPr>
          <p:cNvSpPr/>
          <p:nvPr/>
        </p:nvSpPr>
        <p:spPr>
          <a:xfrm>
            <a:off x="141583" y="1062583"/>
            <a:ext cx="7746670" cy="5568440"/>
          </a:xfrm>
          <a:prstGeom prst="roundRect">
            <a:avLst>
              <a:gd name="adj" fmla="val 9251"/>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6A883F6-3025-EA1B-82FD-8EB2923411E1}"/>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AGENT-BASED MODELLING</a:t>
            </a:r>
          </a:p>
        </p:txBody>
      </p:sp>
      <p:sp>
        <p:nvSpPr>
          <p:cNvPr id="9" name="Content Placeholder 2">
            <a:extLst>
              <a:ext uri="{FF2B5EF4-FFF2-40B4-BE49-F238E27FC236}">
                <a16:creationId xmlns:a16="http://schemas.microsoft.com/office/drawing/2014/main" id="{26973DCF-3B55-FD13-65A0-A54E1EB2738C}"/>
              </a:ext>
            </a:extLst>
          </p:cNvPr>
          <p:cNvSpPr txBox="1">
            <a:spLocks/>
          </p:cNvSpPr>
          <p:nvPr/>
        </p:nvSpPr>
        <p:spPr>
          <a:xfrm>
            <a:off x="194561" y="1289560"/>
            <a:ext cx="7746670" cy="51298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Britannic Bold" panose="020B0903060703020204" pitchFamily="34" charset="77"/>
              </a:rPr>
              <a:t>What is it?</a:t>
            </a:r>
          </a:p>
          <a:p>
            <a:r>
              <a:rPr lang="en-US" sz="2400" dirty="0"/>
              <a:t>Formalization of theories</a:t>
            </a:r>
          </a:p>
          <a:p>
            <a:r>
              <a:rPr lang="en-US" sz="2400" dirty="0"/>
              <a:t>Individual agents follow simple rules over many iterations</a:t>
            </a:r>
          </a:p>
          <a:p>
            <a:r>
              <a:rPr lang="en-US" sz="2400" dirty="0"/>
              <a:t>Micro interactions </a:t>
            </a:r>
            <a:r>
              <a:rPr lang="en-US" sz="2400" dirty="0">
                <a:sym typeface="Wingdings" pitchFamily="2" charset="2"/>
              </a:rPr>
              <a:t> s</a:t>
            </a:r>
            <a:r>
              <a:rPr lang="en-US" sz="2400" dirty="0"/>
              <a:t>ystem-level outcomes emerge</a:t>
            </a:r>
          </a:p>
          <a:p>
            <a:r>
              <a:rPr lang="en-AU" sz="2400" dirty="0"/>
              <a:t>Has been used in metascience to simulate scientific ecosystems, funding schemes, researcher incentives, hypothesis choice…</a:t>
            </a:r>
          </a:p>
          <a:p>
            <a:endParaRPr lang="en-AU" sz="2400" dirty="0"/>
          </a:p>
          <a:p>
            <a:pPr marL="0" indent="0">
              <a:buNone/>
            </a:pPr>
            <a:r>
              <a:rPr lang="en-AU" sz="2400" b="1" dirty="0">
                <a:latin typeface="Britannic Bold" panose="020B0903060703020204" pitchFamily="34" charset="77"/>
              </a:rPr>
              <a:t>Our approach</a:t>
            </a:r>
          </a:p>
          <a:p>
            <a:r>
              <a:rPr lang="en-AU" sz="2400" dirty="0"/>
              <a:t>Selection pressure for truthful research via hiring practices</a:t>
            </a:r>
          </a:p>
          <a:p>
            <a:r>
              <a:rPr lang="en-AU" sz="2400" dirty="0"/>
              <a:t>Observe the emergent ideal rate of replicator researchers</a:t>
            </a:r>
            <a:endParaRPr lang="en-US" sz="2400" dirty="0"/>
          </a:p>
          <a:p>
            <a:pPr marL="0" indent="0">
              <a:buNone/>
            </a:pPr>
            <a:endParaRPr lang="en-US" sz="1100" dirty="0"/>
          </a:p>
        </p:txBody>
      </p:sp>
      <p:grpSp>
        <p:nvGrpSpPr>
          <p:cNvPr id="6" name="Group 5">
            <a:extLst>
              <a:ext uri="{FF2B5EF4-FFF2-40B4-BE49-F238E27FC236}">
                <a16:creationId xmlns:a16="http://schemas.microsoft.com/office/drawing/2014/main" id="{9B3B9532-DFD5-1265-99D7-4D56B0807AD0}"/>
              </a:ext>
            </a:extLst>
          </p:cNvPr>
          <p:cNvGrpSpPr/>
          <p:nvPr/>
        </p:nvGrpSpPr>
        <p:grpSpPr>
          <a:xfrm>
            <a:off x="8047187" y="1062583"/>
            <a:ext cx="4003230" cy="5795417"/>
            <a:chOff x="3726426" y="0"/>
            <a:chExt cx="4737217" cy="6858000"/>
          </a:xfrm>
          <a:effectLst>
            <a:outerShdw blurRad="50800" dist="38100" dir="10800000" algn="r" rotWithShape="0">
              <a:prstClr val="black">
                <a:alpha val="40000"/>
              </a:prstClr>
            </a:outerShdw>
          </a:effectLst>
        </p:grpSpPr>
        <p:sp>
          <p:nvSpPr>
            <p:cNvPr id="5" name="Rectangle 4">
              <a:extLst>
                <a:ext uri="{FF2B5EF4-FFF2-40B4-BE49-F238E27FC236}">
                  <a16:creationId xmlns:a16="http://schemas.microsoft.com/office/drawing/2014/main" id="{035A0930-3261-A74D-EC0A-578B90389D32}"/>
                </a:ext>
              </a:extLst>
            </p:cNvPr>
            <p:cNvSpPr/>
            <p:nvPr/>
          </p:nvSpPr>
          <p:spPr>
            <a:xfrm>
              <a:off x="3726426" y="0"/>
              <a:ext cx="468998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95DFB90-D90F-F823-1C3A-C8E3AF36E38F}"/>
                </a:ext>
              </a:extLst>
            </p:cNvPr>
            <p:cNvPicPr>
              <a:picLocks noChangeAspect="1"/>
            </p:cNvPicPr>
            <p:nvPr/>
          </p:nvPicPr>
          <p:blipFill>
            <a:blip r:embed="rId3"/>
            <a:stretch>
              <a:fillRect/>
            </a:stretch>
          </p:blipFill>
          <p:spPr>
            <a:xfrm>
              <a:off x="3728357" y="0"/>
              <a:ext cx="4735286" cy="6858000"/>
            </a:xfrm>
            <a:prstGeom prst="rect">
              <a:avLst/>
            </a:prstGeom>
          </p:spPr>
        </p:pic>
      </p:grpSp>
      <p:sp>
        <p:nvSpPr>
          <p:cNvPr id="2" name="Slide Number Placeholder 1">
            <a:extLst>
              <a:ext uri="{FF2B5EF4-FFF2-40B4-BE49-F238E27FC236}">
                <a16:creationId xmlns:a16="http://schemas.microsoft.com/office/drawing/2014/main" id="{1FE7EA9D-A420-A678-F570-EF8E11C8B0FD}"/>
              </a:ext>
            </a:extLst>
          </p:cNvPr>
          <p:cNvSpPr>
            <a:spLocks noGrp="1"/>
          </p:cNvSpPr>
          <p:nvPr>
            <p:ph type="sldNum" sz="quarter" idx="12"/>
          </p:nvPr>
        </p:nvSpPr>
        <p:spPr/>
        <p:txBody>
          <a:bodyPr/>
          <a:lstStyle/>
          <a:p>
            <a:fld id="{31FF4958-03C2-D046-B93E-A6943D85A75D}" type="slidenum">
              <a:rPr lang="en-US" smtClean="0"/>
              <a:t>3</a:t>
            </a:fld>
            <a:endParaRPr lang="en-US"/>
          </a:p>
        </p:txBody>
      </p:sp>
    </p:spTree>
    <p:extLst>
      <p:ext uri="{BB962C8B-B14F-4D97-AF65-F5344CB8AC3E}">
        <p14:creationId xmlns:p14="http://schemas.microsoft.com/office/powerpoint/2010/main" val="168975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E8C7DC4-A262-E974-B904-2912E0006FE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21115AB-899D-F096-DCB5-1764F435D4E5}"/>
              </a:ext>
            </a:extLst>
          </p:cNvPr>
          <p:cNvPicPr>
            <a:picLocks noChangeAspect="1"/>
          </p:cNvPicPr>
          <p:nvPr/>
        </p:nvPicPr>
        <p:blipFill>
          <a:blip r:embed="rId3"/>
          <a:stretch>
            <a:fillRect/>
          </a:stretch>
        </p:blipFill>
        <p:spPr>
          <a:xfrm>
            <a:off x="128383" y="985838"/>
            <a:ext cx="11935233" cy="5743575"/>
          </a:xfrm>
          <a:prstGeom prst="rect">
            <a:avLst/>
          </a:prstGeom>
        </p:spPr>
      </p:pic>
      <p:sp>
        <p:nvSpPr>
          <p:cNvPr id="10" name="Rectangle 9">
            <a:extLst>
              <a:ext uri="{FF2B5EF4-FFF2-40B4-BE49-F238E27FC236}">
                <a16:creationId xmlns:a16="http://schemas.microsoft.com/office/drawing/2014/main" id="{369EA1B7-F406-2C5A-B2C8-AB8D206ED54D}"/>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latin typeface="Britannic Bold" panose="020B0903060703020204" pitchFamily="34" charset="77"/>
              </a:rPr>
              <a:t>MODEL DIAGRAM </a:t>
            </a:r>
          </a:p>
          <a:p>
            <a:pPr algn="ctr"/>
            <a:r>
              <a:rPr lang="en-AU" sz="1400" dirty="0">
                <a:solidFill>
                  <a:schemeClr val="tx1"/>
                </a:solidFill>
                <a:latin typeface="Britannic Bold" panose="020B0903060703020204" pitchFamily="34" charset="77"/>
              </a:rPr>
              <a:t>(ODD: OVERVIEW, DESIGN CONCEPTS, AND DETAILS; </a:t>
            </a:r>
            <a:r>
              <a:rPr lang="en-AU" sz="1400" b="1" dirty="0">
                <a:solidFill>
                  <a:schemeClr val="tx1"/>
                </a:solidFill>
                <a:latin typeface="Britannic Bold" panose="020B0903060703020204" pitchFamily="34" charset="77"/>
              </a:rPr>
              <a:t>SZANGOLIES ET AL., 2024</a:t>
            </a:r>
            <a:r>
              <a:rPr lang="en-AU" sz="1400" dirty="0">
                <a:solidFill>
                  <a:schemeClr val="tx1"/>
                </a:solidFill>
                <a:latin typeface="Britannic Bold" panose="020B0903060703020204" pitchFamily="34" charset="77"/>
              </a:rPr>
              <a:t>)</a:t>
            </a:r>
            <a:endParaRPr lang="en-US" sz="1400" dirty="0">
              <a:solidFill>
                <a:schemeClr val="tx1"/>
              </a:solidFill>
              <a:latin typeface="Britannic Bold" panose="020B0903060703020204" pitchFamily="34" charset="77"/>
            </a:endParaRPr>
          </a:p>
        </p:txBody>
      </p:sp>
      <p:pic>
        <p:nvPicPr>
          <p:cNvPr id="11" name="Picture 10">
            <a:extLst>
              <a:ext uri="{FF2B5EF4-FFF2-40B4-BE49-F238E27FC236}">
                <a16:creationId xmlns:a16="http://schemas.microsoft.com/office/drawing/2014/main" id="{569C1F02-575D-9EA1-AA6B-3F5EFB065F27}"/>
              </a:ext>
            </a:extLst>
          </p:cNvPr>
          <p:cNvPicPr>
            <a:picLocks noChangeAspect="1"/>
          </p:cNvPicPr>
          <p:nvPr/>
        </p:nvPicPr>
        <p:blipFill>
          <a:blip r:embed="rId4"/>
          <a:srcRect t="10161" b="3234"/>
          <a:stretch>
            <a:fillRect/>
          </a:stretch>
        </p:blipFill>
        <p:spPr>
          <a:xfrm>
            <a:off x="3608294" y="2803712"/>
            <a:ext cx="1542111" cy="1149723"/>
          </a:xfrm>
          <a:prstGeom prst="roundRect">
            <a:avLst>
              <a:gd name="adj" fmla="val 36453"/>
            </a:avLst>
          </a:prstGeom>
        </p:spPr>
      </p:pic>
      <p:sp>
        <p:nvSpPr>
          <p:cNvPr id="2" name="Slide Number Placeholder 1">
            <a:extLst>
              <a:ext uri="{FF2B5EF4-FFF2-40B4-BE49-F238E27FC236}">
                <a16:creationId xmlns:a16="http://schemas.microsoft.com/office/drawing/2014/main" id="{77E98032-C3E3-CA5B-BB6F-CD3973392511}"/>
              </a:ext>
            </a:extLst>
          </p:cNvPr>
          <p:cNvSpPr>
            <a:spLocks noGrp="1"/>
          </p:cNvSpPr>
          <p:nvPr>
            <p:ph type="sldNum" sz="quarter" idx="12"/>
          </p:nvPr>
        </p:nvSpPr>
        <p:spPr/>
        <p:txBody>
          <a:bodyPr/>
          <a:lstStyle/>
          <a:p>
            <a:fld id="{31FF4958-03C2-D046-B93E-A6943D85A75D}" type="slidenum">
              <a:rPr lang="en-US" smtClean="0"/>
              <a:t>4</a:t>
            </a:fld>
            <a:endParaRPr lang="en-US"/>
          </a:p>
        </p:txBody>
      </p:sp>
      <p:pic>
        <p:nvPicPr>
          <p:cNvPr id="3" name="Picture 2" descr="A diagram of a normal distribution&#10;&#10;AI-generated content may be incorrect.">
            <a:extLst>
              <a:ext uri="{FF2B5EF4-FFF2-40B4-BE49-F238E27FC236}">
                <a16:creationId xmlns:a16="http://schemas.microsoft.com/office/drawing/2014/main" id="{0037B894-8CFE-CBF9-883F-698290C317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597" y="2803712"/>
            <a:ext cx="1467399" cy="1348650"/>
          </a:xfrm>
          <a:prstGeom prst="roundRect">
            <a:avLst>
              <a:gd name="adj" fmla="val 34696"/>
            </a:avLst>
          </a:prstGeom>
        </p:spPr>
      </p:pic>
      <p:sp>
        <p:nvSpPr>
          <p:cNvPr id="5" name="TextBox 4">
            <a:extLst>
              <a:ext uri="{FF2B5EF4-FFF2-40B4-BE49-F238E27FC236}">
                <a16:creationId xmlns:a16="http://schemas.microsoft.com/office/drawing/2014/main" id="{7DCB55FD-9811-0E93-3AC6-E01ABA51B7EA}"/>
              </a:ext>
            </a:extLst>
          </p:cNvPr>
          <p:cNvSpPr txBox="1"/>
          <p:nvPr/>
        </p:nvSpPr>
        <p:spPr>
          <a:xfrm>
            <a:off x="773517" y="1643883"/>
            <a:ext cx="1948417" cy="400110"/>
          </a:xfrm>
          <a:prstGeom prst="rect">
            <a:avLst/>
          </a:prstGeom>
          <a:solidFill>
            <a:srgbClr val="1F4E79"/>
          </a:solidFill>
        </p:spPr>
        <p:txBody>
          <a:bodyPr wrap="square">
            <a:spAutoFit/>
          </a:bodyPr>
          <a:lstStyle/>
          <a:p>
            <a:pPr algn="ctr">
              <a:lnSpc>
                <a:spcPct val="100000"/>
              </a:lnSpc>
            </a:pPr>
            <a:r>
              <a:rPr lang="en-GB" sz="2000" b="1" strike="noStrike" spc="-1" dirty="0">
                <a:solidFill>
                  <a:srgbClr val="FFFFFF"/>
                </a:solidFill>
                <a:latin typeface="Britannic Bold" panose="020B0903060703020204" pitchFamily="34" charset="77"/>
                <a:ea typeface="Helvetica Neue"/>
              </a:rPr>
              <a:t>ENTITIES</a:t>
            </a:r>
            <a:endParaRPr lang="en-US" b="0" strike="noStrike" spc="-1" dirty="0">
              <a:latin typeface="Britannic Bold" panose="020B0903060703020204" pitchFamily="34" charset="77"/>
            </a:endParaRPr>
          </a:p>
        </p:txBody>
      </p:sp>
      <p:pic>
        <p:nvPicPr>
          <p:cNvPr id="7" name="Picture 6" descr="A blue square tile on a white surface&#10;&#10;AI-generated content may be incorrect.">
            <a:extLst>
              <a:ext uri="{FF2B5EF4-FFF2-40B4-BE49-F238E27FC236}">
                <a16:creationId xmlns:a16="http://schemas.microsoft.com/office/drawing/2014/main" id="{89FA728C-2827-8623-6758-0A8C3B6FCB60}"/>
              </a:ext>
            </a:extLst>
          </p:cNvPr>
          <p:cNvPicPr>
            <a:picLocks noChangeAspect="1"/>
          </p:cNvPicPr>
          <p:nvPr/>
        </p:nvPicPr>
        <p:blipFill>
          <a:blip r:embed="rId6"/>
          <a:stretch>
            <a:fillRect/>
          </a:stretch>
        </p:blipFill>
        <p:spPr>
          <a:xfrm>
            <a:off x="1665620" y="5478958"/>
            <a:ext cx="1056314" cy="248004"/>
          </a:xfrm>
          <a:prstGeom prst="rect">
            <a:avLst/>
          </a:prstGeom>
        </p:spPr>
      </p:pic>
    </p:spTree>
    <p:extLst>
      <p:ext uri="{BB962C8B-B14F-4D97-AF65-F5344CB8AC3E}">
        <p14:creationId xmlns:p14="http://schemas.microsoft.com/office/powerpoint/2010/main" val="2815479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652D78AD-80F3-203F-8530-17549995A6E0}"/>
            </a:ext>
          </a:extLst>
        </p:cNvPr>
        <p:cNvGrpSpPr/>
        <p:nvPr/>
      </p:nvGrpSpPr>
      <p:grpSpPr>
        <a:xfrm>
          <a:off x="0" y="0"/>
          <a:ext cx="0" cy="0"/>
          <a:chOff x="0" y="0"/>
          <a:chExt cx="0" cy="0"/>
        </a:xfrm>
      </p:grpSpPr>
      <p:sp>
        <p:nvSpPr>
          <p:cNvPr id="28" name="Rounded Rectangle 27">
            <a:extLst>
              <a:ext uri="{FF2B5EF4-FFF2-40B4-BE49-F238E27FC236}">
                <a16:creationId xmlns:a16="http://schemas.microsoft.com/office/drawing/2014/main" id="{4B782AF3-CAC8-12F3-006A-E5EEA6783939}"/>
              </a:ext>
            </a:extLst>
          </p:cNvPr>
          <p:cNvSpPr/>
          <p:nvPr/>
        </p:nvSpPr>
        <p:spPr>
          <a:xfrm>
            <a:off x="180575" y="4095459"/>
            <a:ext cx="5785286" cy="2647447"/>
          </a:xfrm>
          <a:prstGeom prst="roundRect">
            <a:avLst>
              <a:gd name="adj" fmla="val 6508"/>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Novelty contribution</a:t>
            </a:r>
          </a:p>
          <a:p>
            <a:pPr algn="ctr"/>
            <a:endParaRPr lang="en-US" b="1" dirty="0">
              <a:solidFill>
                <a:schemeClr val="tx1"/>
              </a:solidFill>
            </a:endParaRPr>
          </a:p>
          <a:p>
            <a:pPr algn="ctr"/>
            <a:endParaRPr lang="en-US" b="1" dirty="0">
              <a:solidFill>
                <a:schemeClr val="tx1"/>
              </a:solidFill>
            </a:endParaRPr>
          </a:p>
          <a:p>
            <a:endParaRPr lang="en-US" b="1" dirty="0">
              <a:solidFill>
                <a:schemeClr val="tx1"/>
              </a:solidFill>
            </a:endParaRPr>
          </a:p>
          <a:p>
            <a:r>
              <a:rPr lang="en-US" b="1" dirty="0" err="1">
                <a:solidFill>
                  <a:schemeClr val="tx1"/>
                </a:solidFill>
              </a:rPr>
              <a:t>Kullback</a:t>
            </a:r>
            <a:r>
              <a:rPr lang="en-US" b="1" dirty="0">
                <a:solidFill>
                  <a:schemeClr val="tx1"/>
                </a:solidFill>
              </a:rPr>
              <a:t>-Leibler (KL) divergence:</a:t>
            </a:r>
            <a:r>
              <a:rPr lang="en-US" dirty="0">
                <a:solidFill>
                  <a:schemeClr val="tx1"/>
                </a:solidFill>
              </a:rPr>
              <a:t> how surprised would we be if we believe (B) while (A) generates the data? </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sz="800" dirty="0">
              <a:solidFill>
                <a:schemeClr val="tx1"/>
              </a:solidFill>
            </a:endParaRPr>
          </a:p>
        </p:txBody>
      </p:sp>
      <p:sp>
        <p:nvSpPr>
          <p:cNvPr id="3" name="Rectangle 2">
            <a:extLst>
              <a:ext uri="{FF2B5EF4-FFF2-40B4-BE49-F238E27FC236}">
                <a16:creationId xmlns:a16="http://schemas.microsoft.com/office/drawing/2014/main" id="{84505353-97CC-ECCC-BACF-AB438522A82E}"/>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KEY MECHANISMS: Bayesian updating</a:t>
            </a:r>
          </a:p>
        </p:txBody>
      </p:sp>
      <p:pic>
        <p:nvPicPr>
          <p:cNvPr id="21" name="Picture 20">
            <a:extLst>
              <a:ext uri="{FF2B5EF4-FFF2-40B4-BE49-F238E27FC236}">
                <a16:creationId xmlns:a16="http://schemas.microsoft.com/office/drawing/2014/main" id="{24B6AA2D-47B5-AF35-4B93-2C42F450EA51}"/>
              </a:ext>
            </a:extLst>
          </p:cNvPr>
          <p:cNvPicPr>
            <a:picLocks noChangeAspect="1"/>
          </p:cNvPicPr>
          <p:nvPr/>
        </p:nvPicPr>
        <p:blipFill>
          <a:blip r:embed="rId3"/>
          <a:stretch>
            <a:fillRect/>
          </a:stretch>
        </p:blipFill>
        <p:spPr>
          <a:xfrm>
            <a:off x="595536" y="5918704"/>
            <a:ext cx="4865478" cy="772481"/>
          </a:xfrm>
          <a:prstGeom prst="rect">
            <a:avLst/>
          </a:prstGeom>
        </p:spPr>
      </p:pic>
      <p:sp>
        <p:nvSpPr>
          <p:cNvPr id="22" name="Rectangle 21">
            <a:extLst>
              <a:ext uri="{FF2B5EF4-FFF2-40B4-BE49-F238E27FC236}">
                <a16:creationId xmlns:a16="http://schemas.microsoft.com/office/drawing/2014/main" id="{EFE04BBB-0629-ED9B-C125-6C72C46CBDBC}"/>
              </a:ext>
            </a:extLst>
          </p:cNvPr>
          <p:cNvSpPr/>
          <p:nvPr/>
        </p:nvSpPr>
        <p:spPr>
          <a:xfrm>
            <a:off x="1819556" y="5545085"/>
            <a:ext cx="309281" cy="321898"/>
          </a:xfrm>
          <a:prstGeom prst="rect">
            <a:avLst/>
          </a:prstGeom>
          <a:solidFill>
            <a:srgbClr val="0000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8E46A81-EBFF-5DFE-2C18-A8476DE4F1D0}"/>
              </a:ext>
            </a:extLst>
          </p:cNvPr>
          <p:cNvSpPr/>
          <p:nvPr/>
        </p:nvSpPr>
        <p:spPr>
          <a:xfrm>
            <a:off x="2681632" y="5546851"/>
            <a:ext cx="309281" cy="321898"/>
          </a:xfrm>
          <a:prstGeom prst="rect">
            <a:avLst/>
          </a:prstGeom>
          <a:solidFill>
            <a:srgbClr val="00FF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5F44900-3438-CADF-8B23-C20580327672}"/>
              </a:ext>
            </a:extLst>
          </p:cNvPr>
          <p:cNvPicPr>
            <a:picLocks noChangeAspect="1"/>
          </p:cNvPicPr>
          <p:nvPr/>
        </p:nvPicPr>
        <p:blipFill>
          <a:blip r:embed="rId4"/>
          <a:srcRect t="10161" b="3234"/>
          <a:stretch>
            <a:fillRect/>
          </a:stretch>
        </p:blipFill>
        <p:spPr>
          <a:xfrm>
            <a:off x="58271" y="40342"/>
            <a:ext cx="1388803" cy="1035424"/>
          </a:xfrm>
          <a:prstGeom prst="roundRect">
            <a:avLst>
              <a:gd name="adj" fmla="val 36453"/>
            </a:avLst>
          </a:prstGeom>
        </p:spPr>
      </p:pic>
      <p:sp>
        <p:nvSpPr>
          <p:cNvPr id="2" name="Slide Number Placeholder 1">
            <a:extLst>
              <a:ext uri="{FF2B5EF4-FFF2-40B4-BE49-F238E27FC236}">
                <a16:creationId xmlns:a16="http://schemas.microsoft.com/office/drawing/2014/main" id="{587069F3-0144-C2FE-8918-0317AD288478}"/>
              </a:ext>
            </a:extLst>
          </p:cNvPr>
          <p:cNvSpPr>
            <a:spLocks noGrp="1"/>
          </p:cNvSpPr>
          <p:nvPr>
            <p:ph type="sldNum" sz="quarter" idx="12"/>
          </p:nvPr>
        </p:nvSpPr>
        <p:spPr/>
        <p:txBody>
          <a:bodyPr/>
          <a:lstStyle/>
          <a:p>
            <a:fld id="{31FF4958-03C2-D046-B93E-A6943D85A75D}" type="slidenum">
              <a:rPr lang="en-US" smtClean="0"/>
              <a:t>5</a:t>
            </a:fld>
            <a:endParaRPr lang="en-US"/>
          </a:p>
        </p:txBody>
      </p:sp>
      <p:pic>
        <p:nvPicPr>
          <p:cNvPr id="11" name="Picture 10" descr="A diagram of a normal distribution&#10;&#10;AI-generated content may be incorrect.">
            <a:extLst>
              <a:ext uri="{FF2B5EF4-FFF2-40B4-BE49-F238E27FC236}">
                <a16:creationId xmlns:a16="http://schemas.microsoft.com/office/drawing/2014/main" id="{E29D80AA-B0DA-E86C-F843-FC4E637175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71" y="1116108"/>
            <a:ext cx="1388803" cy="1276415"/>
          </a:xfrm>
          <a:prstGeom prst="roundRect">
            <a:avLst>
              <a:gd name="adj" fmla="val 34696"/>
            </a:avLst>
          </a:prstGeom>
        </p:spPr>
      </p:pic>
      <p:sp>
        <p:nvSpPr>
          <p:cNvPr id="4" name="Rounded Rectangle 3">
            <a:extLst>
              <a:ext uri="{FF2B5EF4-FFF2-40B4-BE49-F238E27FC236}">
                <a16:creationId xmlns:a16="http://schemas.microsoft.com/office/drawing/2014/main" id="{6068934E-FBDF-9F81-ED73-7567B42562F3}"/>
              </a:ext>
            </a:extLst>
          </p:cNvPr>
          <p:cNvSpPr/>
          <p:nvPr/>
        </p:nvSpPr>
        <p:spPr>
          <a:xfrm>
            <a:off x="6226141" y="4095459"/>
            <a:ext cx="5785284" cy="2647447"/>
          </a:xfrm>
          <a:prstGeom prst="roundRect">
            <a:avLst>
              <a:gd name="adj" fmla="val 6508"/>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Truth contribution</a:t>
            </a:r>
          </a:p>
          <a:p>
            <a:pPr algn="ctr"/>
            <a:endParaRPr lang="en-US" b="1" dirty="0">
              <a:solidFill>
                <a:schemeClr val="tx1"/>
              </a:solidFill>
            </a:endParaRPr>
          </a:p>
          <a:p>
            <a:pPr algn="ctr"/>
            <a:endParaRPr lang="en-US" dirty="0">
              <a:solidFill>
                <a:schemeClr val="tx1"/>
              </a:solidFill>
            </a:endParaRPr>
          </a:p>
          <a:p>
            <a:endParaRPr lang="en-US" dirty="0">
              <a:solidFill>
                <a:schemeClr val="tx1"/>
              </a:solidFill>
            </a:endParaRPr>
          </a:p>
          <a:p>
            <a:r>
              <a:rPr lang="en-AU" b="1" dirty="0">
                <a:solidFill>
                  <a:schemeClr val="tx1"/>
                </a:solidFill>
              </a:rPr>
              <a:t>The log Savage-Dickey density ratio at the true effect: </a:t>
            </a:r>
            <a:r>
              <a:rPr lang="en-AU" dirty="0">
                <a:solidFill>
                  <a:schemeClr val="tx1"/>
                </a:solidFill>
              </a:rPr>
              <a:t>the difference between the log density of the posterior at the true effect and the log density of the prior at the true effect.</a:t>
            </a:r>
            <a:endParaRPr lang="en-US" dirty="0">
              <a:solidFill>
                <a:schemeClr val="tx1"/>
              </a:solidFill>
            </a:endParaRPr>
          </a:p>
        </p:txBody>
      </p:sp>
      <p:pic>
        <p:nvPicPr>
          <p:cNvPr id="24" name="Picture 23" descr="A graph of a normal distribution&#10;&#10;AI-generated content may be incorrect.">
            <a:extLst>
              <a:ext uri="{FF2B5EF4-FFF2-40B4-BE49-F238E27FC236}">
                <a16:creationId xmlns:a16="http://schemas.microsoft.com/office/drawing/2014/main" id="{5B27C59C-1AC5-544A-8713-54FF64BF83CE}"/>
              </a:ext>
            </a:extLst>
          </p:cNvPr>
          <p:cNvPicPr>
            <a:picLocks noChangeAspect="1"/>
          </p:cNvPicPr>
          <p:nvPr/>
        </p:nvPicPr>
        <p:blipFill>
          <a:blip r:embed="rId6"/>
          <a:stretch>
            <a:fillRect/>
          </a:stretch>
        </p:blipFill>
        <p:spPr>
          <a:xfrm>
            <a:off x="2304743" y="763777"/>
            <a:ext cx="7582512" cy="3265815"/>
          </a:xfrm>
          <a:prstGeom prst="rect">
            <a:avLst/>
          </a:prstGeom>
        </p:spPr>
      </p:pic>
      <p:grpSp>
        <p:nvGrpSpPr>
          <p:cNvPr id="34" name="Group 33">
            <a:extLst>
              <a:ext uri="{FF2B5EF4-FFF2-40B4-BE49-F238E27FC236}">
                <a16:creationId xmlns:a16="http://schemas.microsoft.com/office/drawing/2014/main" id="{1FCA0C8C-F670-E504-EF31-3EAC0204EA52}"/>
              </a:ext>
            </a:extLst>
          </p:cNvPr>
          <p:cNvGrpSpPr/>
          <p:nvPr/>
        </p:nvGrpSpPr>
        <p:grpSpPr>
          <a:xfrm>
            <a:off x="6347224" y="1231095"/>
            <a:ext cx="1063816" cy="1067559"/>
            <a:chOff x="6347224" y="1231095"/>
            <a:chExt cx="1063816" cy="1067559"/>
          </a:xfrm>
        </p:grpSpPr>
        <p:cxnSp>
          <p:nvCxnSpPr>
            <p:cNvPr id="30" name="Curved Connector 29">
              <a:extLst>
                <a:ext uri="{FF2B5EF4-FFF2-40B4-BE49-F238E27FC236}">
                  <a16:creationId xmlns:a16="http://schemas.microsoft.com/office/drawing/2014/main" id="{81E6EF73-7C45-7E72-A866-18BD6F13EFBE}"/>
                </a:ext>
              </a:extLst>
            </p:cNvPr>
            <p:cNvCxnSpPr>
              <a:cxnSpLocks/>
            </p:cNvCxnSpPr>
            <p:nvPr/>
          </p:nvCxnSpPr>
          <p:spPr>
            <a:xfrm flipV="1">
              <a:off x="6560288" y="1718370"/>
              <a:ext cx="637688" cy="580284"/>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04B80649-0228-FB28-2959-FA4FE21975F8}"/>
                </a:ext>
              </a:extLst>
            </p:cNvPr>
            <p:cNvSpPr txBox="1"/>
            <p:nvPr/>
          </p:nvSpPr>
          <p:spPr>
            <a:xfrm>
              <a:off x="6347224" y="1231095"/>
              <a:ext cx="1063816" cy="523220"/>
            </a:xfrm>
            <a:prstGeom prst="rect">
              <a:avLst/>
            </a:prstGeom>
            <a:noFill/>
          </p:spPr>
          <p:txBody>
            <a:bodyPr wrap="none" rtlCol="0">
              <a:spAutoFit/>
            </a:bodyPr>
            <a:lstStyle/>
            <a:p>
              <a:pPr algn="ctr"/>
              <a:r>
                <a:rPr lang="en-US" sz="1400" dirty="0"/>
                <a:t>Novelty: 1.1</a:t>
              </a:r>
            </a:p>
            <a:p>
              <a:pPr algn="ctr"/>
              <a:r>
                <a:rPr lang="en-US" sz="1400" dirty="0"/>
                <a:t>Truth: -2.8</a:t>
              </a:r>
            </a:p>
          </p:txBody>
        </p:sp>
      </p:grpSp>
      <p:pic>
        <p:nvPicPr>
          <p:cNvPr id="27" name="Picture 26" descr="A graph of a graph&#10;&#10;AI-generated content may be incorrect.">
            <a:extLst>
              <a:ext uri="{FF2B5EF4-FFF2-40B4-BE49-F238E27FC236}">
                <a16:creationId xmlns:a16="http://schemas.microsoft.com/office/drawing/2014/main" id="{78EC05D3-D7CC-FBD5-D766-74FB908299E2}"/>
              </a:ext>
            </a:extLst>
          </p:cNvPr>
          <p:cNvPicPr>
            <a:picLocks noChangeAspect="1"/>
          </p:cNvPicPr>
          <p:nvPr/>
        </p:nvPicPr>
        <p:blipFill>
          <a:blip r:embed="rId7"/>
          <a:stretch>
            <a:fillRect/>
          </a:stretch>
        </p:blipFill>
        <p:spPr>
          <a:xfrm>
            <a:off x="2254348" y="763777"/>
            <a:ext cx="7683303" cy="3265815"/>
          </a:xfrm>
          <a:prstGeom prst="rect">
            <a:avLst/>
          </a:prstGeom>
        </p:spPr>
      </p:pic>
      <p:grpSp>
        <p:nvGrpSpPr>
          <p:cNvPr id="35" name="Group 34">
            <a:extLst>
              <a:ext uri="{FF2B5EF4-FFF2-40B4-BE49-F238E27FC236}">
                <a16:creationId xmlns:a16="http://schemas.microsoft.com/office/drawing/2014/main" id="{A88BF211-955C-3DC0-B514-E0AB3243307D}"/>
              </a:ext>
            </a:extLst>
          </p:cNvPr>
          <p:cNvGrpSpPr/>
          <p:nvPr/>
        </p:nvGrpSpPr>
        <p:grpSpPr>
          <a:xfrm>
            <a:off x="6365237" y="1259056"/>
            <a:ext cx="1063816" cy="1067559"/>
            <a:chOff x="6347224" y="1231095"/>
            <a:chExt cx="1063816" cy="1067559"/>
          </a:xfrm>
        </p:grpSpPr>
        <p:cxnSp>
          <p:nvCxnSpPr>
            <p:cNvPr id="36" name="Curved Connector 35">
              <a:extLst>
                <a:ext uri="{FF2B5EF4-FFF2-40B4-BE49-F238E27FC236}">
                  <a16:creationId xmlns:a16="http://schemas.microsoft.com/office/drawing/2014/main" id="{79CCCECF-247A-09E0-ACF2-15DE6CCA1D04}"/>
                </a:ext>
              </a:extLst>
            </p:cNvPr>
            <p:cNvCxnSpPr>
              <a:cxnSpLocks/>
            </p:cNvCxnSpPr>
            <p:nvPr/>
          </p:nvCxnSpPr>
          <p:spPr>
            <a:xfrm flipV="1">
              <a:off x="6560288" y="1718370"/>
              <a:ext cx="637688" cy="580284"/>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FDF25C86-033C-01A5-DADF-163A469A441B}"/>
                </a:ext>
              </a:extLst>
            </p:cNvPr>
            <p:cNvSpPr txBox="1"/>
            <p:nvPr/>
          </p:nvSpPr>
          <p:spPr>
            <a:xfrm>
              <a:off x="6347224" y="1231095"/>
              <a:ext cx="1063816" cy="523220"/>
            </a:xfrm>
            <a:prstGeom prst="rect">
              <a:avLst/>
            </a:prstGeom>
            <a:noFill/>
          </p:spPr>
          <p:txBody>
            <a:bodyPr wrap="none" rtlCol="0">
              <a:spAutoFit/>
            </a:bodyPr>
            <a:lstStyle/>
            <a:p>
              <a:pPr algn="ctr"/>
              <a:r>
                <a:rPr lang="en-US" sz="1400" dirty="0"/>
                <a:t>Novelty: 1.1</a:t>
              </a:r>
            </a:p>
            <a:p>
              <a:pPr algn="ctr"/>
              <a:r>
                <a:rPr lang="en-US" sz="1400" dirty="0"/>
                <a:t>Truth: 1.2</a:t>
              </a:r>
            </a:p>
          </p:txBody>
        </p:sp>
      </p:grpSp>
      <p:pic>
        <p:nvPicPr>
          <p:cNvPr id="39" name="Picture 38" descr="A close-up of a symbol&#10;&#10;AI-generated content may be incorrect.">
            <a:extLst>
              <a:ext uri="{FF2B5EF4-FFF2-40B4-BE49-F238E27FC236}">
                <a16:creationId xmlns:a16="http://schemas.microsoft.com/office/drawing/2014/main" id="{5E0FB472-CF9C-F22A-BA88-CF54AB64D733}"/>
              </a:ext>
            </a:extLst>
          </p:cNvPr>
          <p:cNvPicPr>
            <a:picLocks noChangeAspect="1"/>
          </p:cNvPicPr>
          <p:nvPr/>
        </p:nvPicPr>
        <p:blipFill>
          <a:blip r:embed="rId8"/>
          <a:stretch>
            <a:fillRect/>
          </a:stretch>
        </p:blipFill>
        <p:spPr>
          <a:xfrm>
            <a:off x="1409025" y="4603489"/>
            <a:ext cx="3238500" cy="431800"/>
          </a:xfrm>
          <a:prstGeom prst="rect">
            <a:avLst/>
          </a:prstGeom>
        </p:spPr>
      </p:pic>
      <p:pic>
        <p:nvPicPr>
          <p:cNvPr id="41" name="Picture 40" descr="A black number with a white background&#10;&#10;AI-generated content may be incorrect.">
            <a:extLst>
              <a:ext uri="{FF2B5EF4-FFF2-40B4-BE49-F238E27FC236}">
                <a16:creationId xmlns:a16="http://schemas.microsoft.com/office/drawing/2014/main" id="{F4638069-336A-25A0-F7C4-FBDFE31045DE}"/>
              </a:ext>
            </a:extLst>
          </p:cNvPr>
          <p:cNvPicPr>
            <a:picLocks noChangeAspect="1"/>
          </p:cNvPicPr>
          <p:nvPr/>
        </p:nvPicPr>
        <p:blipFill>
          <a:blip r:embed="rId9"/>
          <a:stretch>
            <a:fillRect/>
          </a:stretch>
        </p:blipFill>
        <p:spPr>
          <a:xfrm>
            <a:off x="7093134" y="4565389"/>
            <a:ext cx="4051300" cy="508000"/>
          </a:xfrm>
          <a:prstGeom prst="rect">
            <a:avLst/>
          </a:prstGeom>
        </p:spPr>
      </p:pic>
    </p:spTree>
    <p:extLst>
      <p:ext uri="{BB962C8B-B14F-4D97-AF65-F5344CB8AC3E}">
        <p14:creationId xmlns:p14="http://schemas.microsoft.com/office/powerpoint/2010/main" val="965651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695B72E-22EE-BDE3-CF83-886DCF7E125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31DE2C9-55A0-F55C-1A9C-CDA79C72EF7C}"/>
              </a:ext>
            </a:extLst>
          </p:cNvPr>
          <p:cNvPicPr>
            <a:picLocks noChangeAspect="1"/>
          </p:cNvPicPr>
          <p:nvPr/>
        </p:nvPicPr>
        <p:blipFill>
          <a:blip r:embed="rId2"/>
          <a:stretch>
            <a:fillRect/>
          </a:stretch>
        </p:blipFill>
        <p:spPr>
          <a:xfrm>
            <a:off x="128383" y="985838"/>
            <a:ext cx="11935233" cy="5743575"/>
          </a:xfrm>
          <a:prstGeom prst="rect">
            <a:avLst/>
          </a:prstGeom>
        </p:spPr>
      </p:pic>
      <p:sp>
        <p:nvSpPr>
          <p:cNvPr id="10" name="Rectangle 9">
            <a:extLst>
              <a:ext uri="{FF2B5EF4-FFF2-40B4-BE49-F238E27FC236}">
                <a16:creationId xmlns:a16="http://schemas.microsoft.com/office/drawing/2014/main" id="{D3FF73DE-2F0E-8BE5-4FA6-9ED570F095EB}"/>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latin typeface="Britannic Bold" panose="020B0903060703020204" pitchFamily="34" charset="77"/>
              </a:rPr>
              <a:t>MODEL DIAGRAM </a:t>
            </a:r>
          </a:p>
          <a:p>
            <a:pPr algn="ctr"/>
            <a:r>
              <a:rPr lang="en-AU" sz="1400" dirty="0">
                <a:solidFill>
                  <a:schemeClr val="tx1"/>
                </a:solidFill>
                <a:latin typeface="Britannic Bold" panose="020B0903060703020204" pitchFamily="34" charset="77"/>
              </a:rPr>
              <a:t>(ODD: OVERVIEW, DESIGN CONCEPTS, AND DETAILS; </a:t>
            </a:r>
            <a:r>
              <a:rPr lang="en-AU" sz="1400" b="1" dirty="0">
                <a:solidFill>
                  <a:schemeClr val="tx1"/>
                </a:solidFill>
                <a:latin typeface="Britannic Bold" panose="020B0903060703020204" pitchFamily="34" charset="77"/>
              </a:rPr>
              <a:t>SZANGOLIES ET AL., 2024</a:t>
            </a:r>
            <a:r>
              <a:rPr lang="en-AU" sz="1400" dirty="0">
                <a:solidFill>
                  <a:schemeClr val="tx1"/>
                </a:solidFill>
                <a:latin typeface="Britannic Bold" panose="020B0903060703020204" pitchFamily="34" charset="77"/>
              </a:rPr>
              <a:t>)</a:t>
            </a:r>
            <a:endParaRPr lang="en-US" sz="1400" dirty="0">
              <a:solidFill>
                <a:schemeClr val="tx1"/>
              </a:solidFill>
              <a:latin typeface="Britannic Bold" panose="020B0903060703020204" pitchFamily="34" charset="77"/>
            </a:endParaRPr>
          </a:p>
        </p:txBody>
      </p:sp>
      <p:pic>
        <p:nvPicPr>
          <p:cNvPr id="3" name="Picture 2">
            <a:extLst>
              <a:ext uri="{FF2B5EF4-FFF2-40B4-BE49-F238E27FC236}">
                <a16:creationId xmlns:a16="http://schemas.microsoft.com/office/drawing/2014/main" id="{F4F15C3C-A039-6F81-B627-B3FDDCDFCFF3}"/>
              </a:ext>
            </a:extLst>
          </p:cNvPr>
          <p:cNvPicPr>
            <a:picLocks noChangeAspect="1"/>
          </p:cNvPicPr>
          <p:nvPr/>
        </p:nvPicPr>
        <p:blipFill>
          <a:blip r:embed="rId3"/>
          <a:srcRect b="4222"/>
          <a:stretch>
            <a:fillRect/>
          </a:stretch>
        </p:blipFill>
        <p:spPr>
          <a:xfrm>
            <a:off x="5429249" y="2180347"/>
            <a:ext cx="1333500" cy="1167728"/>
          </a:xfrm>
          <a:prstGeom prst="roundRect">
            <a:avLst>
              <a:gd name="adj" fmla="val 20527"/>
            </a:avLst>
          </a:prstGeom>
        </p:spPr>
      </p:pic>
      <p:sp>
        <p:nvSpPr>
          <p:cNvPr id="2" name="Slide Number Placeholder 1">
            <a:extLst>
              <a:ext uri="{FF2B5EF4-FFF2-40B4-BE49-F238E27FC236}">
                <a16:creationId xmlns:a16="http://schemas.microsoft.com/office/drawing/2014/main" id="{B9A2D2E9-CF54-0FF1-536C-5E445EE10CCA}"/>
              </a:ext>
            </a:extLst>
          </p:cNvPr>
          <p:cNvSpPr>
            <a:spLocks noGrp="1"/>
          </p:cNvSpPr>
          <p:nvPr>
            <p:ph type="sldNum" sz="quarter" idx="12"/>
          </p:nvPr>
        </p:nvSpPr>
        <p:spPr/>
        <p:txBody>
          <a:bodyPr/>
          <a:lstStyle/>
          <a:p>
            <a:fld id="{31FF4958-03C2-D046-B93E-A6943D85A75D}" type="slidenum">
              <a:rPr lang="en-US" smtClean="0"/>
              <a:t>6</a:t>
            </a:fld>
            <a:endParaRPr lang="en-US"/>
          </a:p>
        </p:txBody>
      </p:sp>
      <p:pic>
        <p:nvPicPr>
          <p:cNvPr id="4" name="Picture 3" descr="A diagram of a normal distribution&#10;&#10;AI-generated content may be incorrect.">
            <a:extLst>
              <a:ext uri="{FF2B5EF4-FFF2-40B4-BE49-F238E27FC236}">
                <a16:creationId xmlns:a16="http://schemas.microsoft.com/office/drawing/2014/main" id="{7A067F47-992E-8620-46F6-654B705AEA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597" y="2803712"/>
            <a:ext cx="1467399" cy="1348650"/>
          </a:xfrm>
          <a:prstGeom prst="roundRect">
            <a:avLst>
              <a:gd name="adj" fmla="val 34696"/>
            </a:avLst>
          </a:prstGeom>
        </p:spPr>
      </p:pic>
      <p:sp>
        <p:nvSpPr>
          <p:cNvPr id="5" name="TextBox 4">
            <a:extLst>
              <a:ext uri="{FF2B5EF4-FFF2-40B4-BE49-F238E27FC236}">
                <a16:creationId xmlns:a16="http://schemas.microsoft.com/office/drawing/2014/main" id="{723D1FD3-8D67-AACE-66FE-36E96251DA6B}"/>
              </a:ext>
            </a:extLst>
          </p:cNvPr>
          <p:cNvSpPr txBox="1"/>
          <p:nvPr/>
        </p:nvSpPr>
        <p:spPr>
          <a:xfrm>
            <a:off x="773517" y="1643883"/>
            <a:ext cx="1948417" cy="400110"/>
          </a:xfrm>
          <a:prstGeom prst="rect">
            <a:avLst/>
          </a:prstGeom>
          <a:solidFill>
            <a:srgbClr val="1F4E79"/>
          </a:solidFill>
        </p:spPr>
        <p:txBody>
          <a:bodyPr wrap="square">
            <a:spAutoFit/>
          </a:bodyPr>
          <a:lstStyle/>
          <a:p>
            <a:pPr algn="ctr">
              <a:lnSpc>
                <a:spcPct val="100000"/>
              </a:lnSpc>
            </a:pPr>
            <a:r>
              <a:rPr lang="en-GB" sz="2000" b="1" strike="noStrike" spc="-1" dirty="0">
                <a:solidFill>
                  <a:srgbClr val="FFFFFF"/>
                </a:solidFill>
                <a:latin typeface="Britannic Bold" panose="020B0903060703020204" pitchFamily="34" charset="77"/>
                <a:ea typeface="Helvetica Neue"/>
              </a:rPr>
              <a:t>ENTITIES</a:t>
            </a:r>
            <a:endParaRPr lang="en-US" b="0" strike="noStrike" spc="-1" dirty="0">
              <a:latin typeface="Britannic Bold" panose="020B0903060703020204" pitchFamily="34" charset="77"/>
            </a:endParaRPr>
          </a:p>
        </p:txBody>
      </p:sp>
      <p:pic>
        <p:nvPicPr>
          <p:cNvPr id="6" name="Picture 5" descr="A blue square tile on a white surface&#10;&#10;AI-generated content may be incorrect.">
            <a:extLst>
              <a:ext uri="{FF2B5EF4-FFF2-40B4-BE49-F238E27FC236}">
                <a16:creationId xmlns:a16="http://schemas.microsoft.com/office/drawing/2014/main" id="{7FF79B7F-8E6F-CFB8-A6E3-0211A3186033}"/>
              </a:ext>
            </a:extLst>
          </p:cNvPr>
          <p:cNvPicPr>
            <a:picLocks noChangeAspect="1"/>
          </p:cNvPicPr>
          <p:nvPr/>
        </p:nvPicPr>
        <p:blipFill>
          <a:blip r:embed="rId5"/>
          <a:stretch>
            <a:fillRect/>
          </a:stretch>
        </p:blipFill>
        <p:spPr>
          <a:xfrm>
            <a:off x="1665620" y="5478958"/>
            <a:ext cx="1056314" cy="248004"/>
          </a:xfrm>
          <a:prstGeom prst="rect">
            <a:avLst/>
          </a:prstGeom>
        </p:spPr>
      </p:pic>
    </p:spTree>
    <p:extLst>
      <p:ext uri="{BB962C8B-B14F-4D97-AF65-F5344CB8AC3E}">
        <p14:creationId xmlns:p14="http://schemas.microsoft.com/office/powerpoint/2010/main" val="1907921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B90CB47-74A2-D363-068E-5620DA82A895}"/>
            </a:ext>
          </a:extLst>
        </p:cNvPr>
        <p:cNvGrpSpPr/>
        <p:nvPr/>
      </p:nvGrpSpPr>
      <p:grpSpPr>
        <a:xfrm>
          <a:off x="0" y="0"/>
          <a:ext cx="0" cy="0"/>
          <a:chOff x="0" y="0"/>
          <a:chExt cx="0" cy="0"/>
        </a:xfrm>
      </p:grpSpPr>
      <p:pic>
        <p:nvPicPr>
          <p:cNvPr id="61" name="Picture 60">
            <a:extLst>
              <a:ext uri="{FF2B5EF4-FFF2-40B4-BE49-F238E27FC236}">
                <a16:creationId xmlns:a16="http://schemas.microsoft.com/office/drawing/2014/main" id="{3FF7B435-582A-ECEE-C116-F43F59E2EEA9}"/>
              </a:ext>
            </a:extLst>
          </p:cNvPr>
          <p:cNvPicPr>
            <a:picLocks noChangeAspect="1"/>
          </p:cNvPicPr>
          <p:nvPr/>
        </p:nvPicPr>
        <p:blipFill>
          <a:blip r:embed="rId3"/>
          <a:stretch>
            <a:fillRect/>
          </a:stretch>
        </p:blipFill>
        <p:spPr>
          <a:xfrm>
            <a:off x="2971902" y="907229"/>
            <a:ext cx="6248196" cy="5749208"/>
          </a:xfrm>
          <a:prstGeom prst="rect">
            <a:avLst/>
          </a:prstGeom>
        </p:spPr>
      </p:pic>
      <p:sp>
        <p:nvSpPr>
          <p:cNvPr id="3" name="Rectangle 2">
            <a:extLst>
              <a:ext uri="{FF2B5EF4-FFF2-40B4-BE49-F238E27FC236}">
                <a16:creationId xmlns:a16="http://schemas.microsoft.com/office/drawing/2014/main" id="{0324239E-83CF-5DC9-91FC-DCC636197C9E}"/>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KEY MECHANISMS: Publication bias</a:t>
            </a:r>
          </a:p>
        </p:txBody>
      </p:sp>
      <p:sp>
        <p:nvSpPr>
          <p:cNvPr id="21" name="Oval 20">
            <a:extLst>
              <a:ext uri="{FF2B5EF4-FFF2-40B4-BE49-F238E27FC236}">
                <a16:creationId xmlns:a16="http://schemas.microsoft.com/office/drawing/2014/main" id="{557E7B27-13E0-84E0-E15B-7D19DDAB4AA1}"/>
              </a:ext>
            </a:extLst>
          </p:cNvPr>
          <p:cNvSpPr/>
          <p:nvPr/>
        </p:nvSpPr>
        <p:spPr>
          <a:xfrm>
            <a:off x="5082513" y="1689386"/>
            <a:ext cx="149070" cy="149070"/>
          </a:xfrm>
          <a:prstGeom prst="ellipse">
            <a:avLst/>
          </a:prstGeom>
          <a:solidFill>
            <a:schemeClr val="accent6">
              <a:lumMod val="75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21B973A-203B-B233-16D6-39A5EEC4BDBA}"/>
              </a:ext>
            </a:extLst>
          </p:cNvPr>
          <p:cNvSpPr/>
          <p:nvPr/>
        </p:nvSpPr>
        <p:spPr>
          <a:xfrm>
            <a:off x="4933443" y="3076168"/>
            <a:ext cx="149070" cy="149070"/>
          </a:xfrm>
          <a:prstGeom prst="ellipse">
            <a:avLst/>
          </a:prstGeom>
          <a:solidFill>
            <a:schemeClr val="accent2">
              <a:lumMod val="75000"/>
            </a:schemeClr>
          </a:solidFill>
          <a:ln w="38100">
            <a:solidFill>
              <a:schemeClr val="accent2">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0AE5E3B-FD19-A78F-B525-78FB2FED1624}"/>
              </a:ext>
            </a:extLst>
          </p:cNvPr>
          <p:cNvSpPr/>
          <p:nvPr/>
        </p:nvSpPr>
        <p:spPr>
          <a:xfrm>
            <a:off x="3803404" y="2102475"/>
            <a:ext cx="149070" cy="149070"/>
          </a:xfrm>
          <a:prstGeom prst="ellipse">
            <a:avLst/>
          </a:prstGeom>
          <a:solidFill>
            <a:schemeClr val="accent6">
              <a:lumMod val="75000"/>
            </a:schemeClr>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402F690-ADBF-14F8-FF75-46776235C336}"/>
              </a:ext>
            </a:extLst>
          </p:cNvPr>
          <p:cNvSpPr/>
          <p:nvPr/>
        </p:nvSpPr>
        <p:spPr>
          <a:xfrm>
            <a:off x="4827121" y="3362955"/>
            <a:ext cx="149070" cy="149070"/>
          </a:xfrm>
          <a:prstGeom prst="ellipse">
            <a:avLst/>
          </a:prstGeom>
          <a:solidFill>
            <a:schemeClr val="accent6">
              <a:lumMod val="75000"/>
            </a:schemeClr>
          </a:solidFill>
          <a:ln w="381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61354B7-BA7F-7D64-7FB4-61BFE428651E}"/>
              </a:ext>
            </a:extLst>
          </p:cNvPr>
          <p:cNvSpPr/>
          <p:nvPr/>
        </p:nvSpPr>
        <p:spPr>
          <a:xfrm>
            <a:off x="4063291" y="1994531"/>
            <a:ext cx="149070" cy="149070"/>
          </a:xfrm>
          <a:prstGeom prst="ellipse">
            <a:avLst/>
          </a:prstGeom>
          <a:solidFill>
            <a:schemeClr val="accent2">
              <a:lumMod val="75000"/>
            </a:schemeClr>
          </a:solidFill>
          <a:ln w="38100">
            <a:solidFill>
              <a:schemeClr val="accent6">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203AE26-D872-B1D1-C8EE-FF5DB9BDFC30}"/>
              </a:ext>
            </a:extLst>
          </p:cNvPr>
          <p:cNvSpPr/>
          <p:nvPr/>
        </p:nvSpPr>
        <p:spPr>
          <a:xfrm>
            <a:off x="4248873" y="4605271"/>
            <a:ext cx="149070" cy="149070"/>
          </a:xfrm>
          <a:prstGeom prst="ellipse">
            <a:avLst/>
          </a:prstGeom>
          <a:solidFill>
            <a:schemeClr val="accent2">
              <a:lumMod val="75000"/>
            </a:schemeClr>
          </a:solidFill>
          <a:ln w="38100">
            <a:solidFill>
              <a:schemeClr val="accent2">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164A3D06-A99E-0642-F522-949A5415EF1E}"/>
              </a:ext>
            </a:extLst>
          </p:cNvPr>
          <p:cNvPicPr>
            <a:picLocks noChangeAspect="1"/>
          </p:cNvPicPr>
          <p:nvPr/>
        </p:nvPicPr>
        <p:blipFill>
          <a:blip r:embed="rId4"/>
          <a:stretch>
            <a:fillRect/>
          </a:stretch>
        </p:blipFill>
        <p:spPr>
          <a:xfrm>
            <a:off x="-3040822" y="0"/>
            <a:ext cx="2917461" cy="1182016"/>
          </a:xfrm>
          <a:prstGeom prst="rect">
            <a:avLst/>
          </a:prstGeom>
        </p:spPr>
      </p:pic>
      <p:pic>
        <p:nvPicPr>
          <p:cNvPr id="5" name="Picture 4">
            <a:extLst>
              <a:ext uri="{FF2B5EF4-FFF2-40B4-BE49-F238E27FC236}">
                <a16:creationId xmlns:a16="http://schemas.microsoft.com/office/drawing/2014/main" id="{4AF4B529-C2D2-A481-8DDB-B5A27F7FCCAD}"/>
              </a:ext>
            </a:extLst>
          </p:cNvPr>
          <p:cNvPicPr>
            <a:picLocks noChangeAspect="1"/>
          </p:cNvPicPr>
          <p:nvPr/>
        </p:nvPicPr>
        <p:blipFill>
          <a:blip r:embed="rId5"/>
          <a:srcRect b="4222"/>
          <a:stretch>
            <a:fillRect/>
          </a:stretch>
        </p:blipFill>
        <p:spPr>
          <a:xfrm>
            <a:off x="56311" y="70484"/>
            <a:ext cx="1333500" cy="1167728"/>
          </a:xfrm>
          <a:prstGeom prst="roundRect">
            <a:avLst>
              <a:gd name="adj" fmla="val 20527"/>
            </a:avLst>
          </a:prstGeom>
        </p:spPr>
      </p:pic>
      <p:sp>
        <p:nvSpPr>
          <p:cNvPr id="55" name="Rounded Rectangle 54">
            <a:extLst>
              <a:ext uri="{FF2B5EF4-FFF2-40B4-BE49-F238E27FC236}">
                <a16:creationId xmlns:a16="http://schemas.microsoft.com/office/drawing/2014/main" id="{3A302AA2-6C55-E71F-1C86-1F0DC4FA8C3D}"/>
              </a:ext>
            </a:extLst>
          </p:cNvPr>
          <p:cNvSpPr/>
          <p:nvPr/>
        </p:nvSpPr>
        <p:spPr>
          <a:xfrm>
            <a:off x="10039049" y="1650006"/>
            <a:ext cx="1321165" cy="618739"/>
          </a:xfrm>
          <a:prstGeom prst="roundRect">
            <a:avLst/>
          </a:prstGeom>
          <a:solidFill>
            <a:schemeClr val="accent6">
              <a:lumMod val="75000"/>
            </a:schemeClr>
          </a:solidFill>
          <a:ln w="57150">
            <a:solidFill>
              <a:schemeClr val="accent6">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Original</a:t>
            </a:r>
          </a:p>
          <a:p>
            <a:pPr algn="ctr"/>
            <a:r>
              <a:rPr lang="en-US" sz="1200" dirty="0"/>
              <a:t>Significant</a:t>
            </a:r>
          </a:p>
          <a:p>
            <a:pPr algn="ctr"/>
            <a:r>
              <a:rPr lang="en-US" sz="1200" dirty="0"/>
              <a:t>99%</a:t>
            </a:r>
          </a:p>
        </p:txBody>
      </p:sp>
      <p:sp>
        <p:nvSpPr>
          <p:cNvPr id="56" name="Rounded Rectangle 55">
            <a:extLst>
              <a:ext uri="{FF2B5EF4-FFF2-40B4-BE49-F238E27FC236}">
                <a16:creationId xmlns:a16="http://schemas.microsoft.com/office/drawing/2014/main" id="{D825EEAD-89E2-9293-34F8-CAD76ABA6277}"/>
              </a:ext>
            </a:extLst>
          </p:cNvPr>
          <p:cNvSpPr/>
          <p:nvPr/>
        </p:nvSpPr>
        <p:spPr>
          <a:xfrm>
            <a:off x="10039049" y="3855772"/>
            <a:ext cx="1321165" cy="618739"/>
          </a:xfrm>
          <a:prstGeom prst="roundRect">
            <a:avLst/>
          </a:prstGeom>
          <a:solidFill>
            <a:schemeClr val="accent2">
              <a:lumMod val="75000"/>
            </a:schemeClr>
          </a:solidFill>
          <a:ln w="57150">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solidFill>
                  <a:schemeClr val="bg1"/>
                </a:solidFill>
              </a:rPr>
              <a:t>Original</a:t>
            </a:r>
          </a:p>
          <a:p>
            <a:pPr algn="ctr"/>
            <a:r>
              <a:rPr lang="en-US" sz="1200" dirty="0">
                <a:solidFill>
                  <a:schemeClr val="bg1"/>
                </a:solidFill>
              </a:rPr>
              <a:t>Non-significant</a:t>
            </a:r>
          </a:p>
          <a:p>
            <a:pPr algn="ctr"/>
            <a:r>
              <a:rPr lang="en-US" sz="1200" dirty="0">
                <a:solidFill>
                  <a:schemeClr val="bg1"/>
                </a:solidFill>
              </a:rPr>
              <a:t>60%</a:t>
            </a:r>
          </a:p>
        </p:txBody>
      </p:sp>
      <p:sp>
        <p:nvSpPr>
          <p:cNvPr id="57" name="Rounded Rectangle 56">
            <a:extLst>
              <a:ext uri="{FF2B5EF4-FFF2-40B4-BE49-F238E27FC236}">
                <a16:creationId xmlns:a16="http://schemas.microsoft.com/office/drawing/2014/main" id="{DB98C834-3FE5-F4BF-1A7F-8A59925D1846}"/>
              </a:ext>
            </a:extLst>
          </p:cNvPr>
          <p:cNvSpPr/>
          <p:nvPr/>
        </p:nvSpPr>
        <p:spPr>
          <a:xfrm>
            <a:off x="9261085" y="2513462"/>
            <a:ext cx="1321165" cy="618739"/>
          </a:xfrm>
          <a:prstGeom prst="roundRect">
            <a:avLst/>
          </a:prstGeom>
          <a:solidFill>
            <a:schemeClr val="accent6">
              <a:lumMod val="75000"/>
            </a:schemeClr>
          </a:solidFill>
          <a:ln w="57150">
            <a:solidFill>
              <a:schemeClr val="accent6">
                <a:lumMod val="60000"/>
                <a:lumOff val="4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Replication</a:t>
            </a:r>
          </a:p>
          <a:p>
            <a:pPr algn="ctr"/>
            <a:r>
              <a:rPr lang="en-US" sz="1200" dirty="0"/>
              <a:t>Significant</a:t>
            </a:r>
          </a:p>
          <a:p>
            <a:pPr algn="ctr"/>
            <a:r>
              <a:rPr lang="en-US" sz="1200" dirty="0"/>
              <a:t>85%</a:t>
            </a:r>
          </a:p>
        </p:txBody>
      </p:sp>
      <p:sp>
        <p:nvSpPr>
          <p:cNvPr id="58" name="Rounded Rectangle 57">
            <a:extLst>
              <a:ext uri="{FF2B5EF4-FFF2-40B4-BE49-F238E27FC236}">
                <a16:creationId xmlns:a16="http://schemas.microsoft.com/office/drawing/2014/main" id="{335BD07C-F9BC-BBFA-25D4-518F9507CA35}"/>
              </a:ext>
            </a:extLst>
          </p:cNvPr>
          <p:cNvSpPr/>
          <p:nvPr/>
        </p:nvSpPr>
        <p:spPr>
          <a:xfrm>
            <a:off x="10850939" y="2512517"/>
            <a:ext cx="1321165" cy="618739"/>
          </a:xfrm>
          <a:prstGeom prst="roundRect">
            <a:avLst/>
          </a:prstGeom>
          <a:solidFill>
            <a:schemeClr val="accent6">
              <a:lumMod val="75000"/>
            </a:schemeClr>
          </a:solidFill>
          <a:ln w="57150">
            <a:solidFill>
              <a:schemeClr val="accent2">
                <a:lumMod val="60000"/>
                <a:lumOff val="4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Replication</a:t>
            </a:r>
          </a:p>
          <a:p>
            <a:pPr algn="ctr"/>
            <a:r>
              <a:rPr lang="en-US" sz="1200" dirty="0"/>
              <a:t>Non-significant</a:t>
            </a:r>
          </a:p>
          <a:p>
            <a:pPr algn="ctr"/>
            <a:r>
              <a:rPr lang="en-US" sz="1200" dirty="0"/>
              <a:t>50%</a:t>
            </a:r>
          </a:p>
        </p:txBody>
      </p:sp>
      <p:sp>
        <p:nvSpPr>
          <p:cNvPr id="59" name="Rounded Rectangle 58">
            <a:extLst>
              <a:ext uri="{FF2B5EF4-FFF2-40B4-BE49-F238E27FC236}">
                <a16:creationId xmlns:a16="http://schemas.microsoft.com/office/drawing/2014/main" id="{54FDA56E-84C0-87BD-48C6-C26875128F2F}"/>
              </a:ext>
            </a:extLst>
          </p:cNvPr>
          <p:cNvSpPr/>
          <p:nvPr/>
        </p:nvSpPr>
        <p:spPr>
          <a:xfrm>
            <a:off x="9261086" y="4754341"/>
            <a:ext cx="1321165" cy="618739"/>
          </a:xfrm>
          <a:prstGeom prst="roundRect">
            <a:avLst/>
          </a:prstGeom>
          <a:solidFill>
            <a:schemeClr val="accent2">
              <a:lumMod val="75000"/>
            </a:schemeClr>
          </a:solidFill>
          <a:ln w="57150">
            <a:solidFill>
              <a:schemeClr val="accent6">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solidFill>
                  <a:schemeClr val="bg1"/>
                </a:solidFill>
              </a:rPr>
              <a:t>Replication</a:t>
            </a:r>
          </a:p>
          <a:p>
            <a:pPr algn="ctr"/>
            <a:r>
              <a:rPr lang="en-US" sz="1200" dirty="0">
                <a:solidFill>
                  <a:schemeClr val="bg1"/>
                </a:solidFill>
              </a:rPr>
              <a:t>Significant</a:t>
            </a:r>
          </a:p>
          <a:p>
            <a:pPr algn="ctr"/>
            <a:r>
              <a:rPr lang="en-US" sz="1200" dirty="0">
                <a:solidFill>
                  <a:schemeClr val="bg1"/>
                </a:solidFill>
              </a:rPr>
              <a:t>90%</a:t>
            </a:r>
          </a:p>
        </p:txBody>
      </p:sp>
      <p:sp>
        <p:nvSpPr>
          <p:cNvPr id="60" name="Rounded Rectangle 59">
            <a:extLst>
              <a:ext uri="{FF2B5EF4-FFF2-40B4-BE49-F238E27FC236}">
                <a16:creationId xmlns:a16="http://schemas.microsoft.com/office/drawing/2014/main" id="{A61790FA-1249-AD7C-1064-D0E9C3043E32}"/>
              </a:ext>
            </a:extLst>
          </p:cNvPr>
          <p:cNvSpPr/>
          <p:nvPr/>
        </p:nvSpPr>
        <p:spPr>
          <a:xfrm>
            <a:off x="10850939" y="4754341"/>
            <a:ext cx="1321165" cy="618739"/>
          </a:xfrm>
          <a:prstGeom prst="roundRect">
            <a:avLst/>
          </a:prstGeom>
          <a:solidFill>
            <a:schemeClr val="accent2">
              <a:lumMod val="75000"/>
            </a:schemeClr>
          </a:solidFill>
          <a:ln w="57150">
            <a:solidFill>
              <a:schemeClr val="accent2">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solidFill>
                  <a:schemeClr val="bg1"/>
                </a:solidFill>
              </a:rPr>
              <a:t>Replication</a:t>
            </a:r>
          </a:p>
          <a:p>
            <a:pPr algn="ctr"/>
            <a:r>
              <a:rPr lang="en-US" sz="1200" dirty="0">
                <a:solidFill>
                  <a:schemeClr val="bg1"/>
                </a:solidFill>
              </a:rPr>
              <a:t>Non-significant</a:t>
            </a:r>
          </a:p>
          <a:p>
            <a:pPr algn="ctr"/>
            <a:r>
              <a:rPr lang="en-US" sz="1200" dirty="0">
                <a:solidFill>
                  <a:schemeClr val="bg1"/>
                </a:solidFill>
              </a:rPr>
              <a:t>20%</a:t>
            </a:r>
          </a:p>
        </p:txBody>
      </p:sp>
      <p:cxnSp>
        <p:nvCxnSpPr>
          <p:cNvPr id="62" name="Straight Arrow Connector 61">
            <a:extLst>
              <a:ext uri="{FF2B5EF4-FFF2-40B4-BE49-F238E27FC236}">
                <a16:creationId xmlns:a16="http://schemas.microsoft.com/office/drawing/2014/main" id="{1EA4099E-3941-4AFB-095A-9407E6FDC0DB}"/>
              </a:ext>
            </a:extLst>
          </p:cNvPr>
          <p:cNvCxnSpPr>
            <a:stCxn id="55" idx="2"/>
            <a:endCxn id="57" idx="0"/>
          </p:cNvCxnSpPr>
          <p:nvPr/>
        </p:nvCxnSpPr>
        <p:spPr>
          <a:xfrm flipH="1">
            <a:off x="9921668" y="2268745"/>
            <a:ext cx="777964" cy="2447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FF83998-6025-E6ED-3C8D-FB78BD9E101F}"/>
              </a:ext>
            </a:extLst>
          </p:cNvPr>
          <p:cNvCxnSpPr>
            <a:cxnSpLocks/>
            <a:stCxn id="55" idx="2"/>
            <a:endCxn id="58" idx="0"/>
          </p:cNvCxnSpPr>
          <p:nvPr/>
        </p:nvCxnSpPr>
        <p:spPr>
          <a:xfrm>
            <a:off x="10699632" y="2268745"/>
            <a:ext cx="811890" cy="2437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7CB2FF5-D99A-78CF-FF59-4E0E1FB22537}"/>
              </a:ext>
            </a:extLst>
          </p:cNvPr>
          <p:cNvCxnSpPr/>
          <p:nvPr/>
        </p:nvCxnSpPr>
        <p:spPr>
          <a:xfrm flipH="1">
            <a:off x="9921668" y="4492067"/>
            <a:ext cx="777964" cy="2447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770238E-FFB8-75E0-737C-338656325BC2}"/>
              </a:ext>
            </a:extLst>
          </p:cNvPr>
          <p:cNvCxnSpPr>
            <a:cxnSpLocks/>
          </p:cNvCxnSpPr>
          <p:nvPr/>
        </p:nvCxnSpPr>
        <p:spPr>
          <a:xfrm>
            <a:off x="10699632" y="4492067"/>
            <a:ext cx="811890" cy="2437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A61C58DB-0004-AAD4-F4F9-6C0C4D7291DE}"/>
              </a:ext>
            </a:extLst>
          </p:cNvPr>
          <p:cNvGrpSpPr/>
          <p:nvPr/>
        </p:nvGrpSpPr>
        <p:grpSpPr>
          <a:xfrm>
            <a:off x="4016988" y="1939636"/>
            <a:ext cx="1081485" cy="434098"/>
            <a:chOff x="4016988" y="1939636"/>
            <a:chExt cx="1081485" cy="434098"/>
          </a:xfrm>
        </p:grpSpPr>
        <p:sp>
          <p:nvSpPr>
            <p:cNvPr id="36" name="Freeform 35">
              <a:extLst>
                <a:ext uri="{FF2B5EF4-FFF2-40B4-BE49-F238E27FC236}">
                  <a16:creationId xmlns:a16="http://schemas.microsoft.com/office/drawing/2014/main" id="{453A90C4-D46A-E30A-8A0D-C68EF0234B74}"/>
                </a:ext>
              </a:extLst>
            </p:cNvPr>
            <p:cNvSpPr/>
            <p:nvPr/>
          </p:nvSpPr>
          <p:spPr>
            <a:xfrm>
              <a:off x="4063291" y="1939636"/>
              <a:ext cx="1035182" cy="434098"/>
            </a:xfrm>
            <a:custGeom>
              <a:avLst/>
              <a:gdLst>
                <a:gd name="csX0" fmla="*/ 1095459 w 1095459"/>
                <a:gd name="csY0" fmla="*/ 0 h 434098"/>
                <a:gd name="csX1" fmla="*/ 726004 w 1095459"/>
                <a:gd name="csY1" fmla="*/ 415637 h 434098"/>
                <a:gd name="csX2" fmla="*/ 79459 w 1095459"/>
                <a:gd name="csY2" fmla="*/ 360219 h 434098"/>
                <a:gd name="csX3" fmla="*/ 33277 w 1095459"/>
                <a:gd name="csY3" fmla="*/ 350982 h 434098"/>
              </a:gdLst>
              <a:ahLst/>
              <a:cxnLst>
                <a:cxn ang="0">
                  <a:pos x="csX0" y="csY0"/>
                </a:cxn>
                <a:cxn ang="0">
                  <a:pos x="csX1" y="csY1"/>
                </a:cxn>
                <a:cxn ang="0">
                  <a:pos x="csX2" y="csY2"/>
                </a:cxn>
                <a:cxn ang="0">
                  <a:pos x="csX3" y="csY3"/>
                </a:cxn>
              </a:cxnLst>
              <a:rect l="l" t="t" r="r" b="b"/>
              <a:pathLst>
                <a:path w="1095459" h="434098">
                  <a:moveTo>
                    <a:pt x="1095459" y="0"/>
                  </a:moveTo>
                  <a:cubicBezTo>
                    <a:pt x="995398" y="177800"/>
                    <a:pt x="895337" y="355601"/>
                    <a:pt x="726004" y="415637"/>
                  </a:cubicBezTo>
                  <a:cubicBezTo>
                    <a:pt x="556671" y="475673"/>
                    <a:pt x="194913" y="370995"/>
                    <a:pt x="79459" y="360219"/>
                  </a:cubicBezTo>
                  <a:cubicBezTo>
                    <a:pt x="-35995" y="349443"/>
                    <a:pt x="-1359" y="350212"/>
                    <a:pt x="33277" y="350982"/>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riangle 38">
              <a:extLst>
                <a:ext uri="{FF2B5EF4-FFF2-40B4-BE49-F238E27FC236}">
                  <a16:creationId xmlns:a16="http://schemas.microsoft.com/office/drawing/2014/main" id="{1E5308B5-AD6B-3D1A-6660-9E140A50D376}"/>
                </a:ext>
              </a:extLst>
            </p:cNvPr>
            <p:cNvSpPr/>
            <p:nvPr/>
          </p:nvSpPr>
          <p:spPr>
            <a:xfrm rot="17149248">
              <a:off x="4011048" y="2218262"/>
              <a:ext cx="131601" cy="11972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B0BBDD15-F407-D15A-5FEA-B706AD5D1D12}"/>
              </a:ext>
            </a:extLst>
          </p:cNvPr>
          <p:cNvGrpSpPr/>
          <p:nvPr/>
        </p:nvGrpSpPr>
        <p:grpSpPr>
          <a:xfrm>
            <a:off x="4661898" y="2236285"/>
            <a:ext cx="251227" cy="1054753"/>
            <a:chOff x="4661898" y="2236285"/>
            <a:chExt cx="251227" cy="1054753"/>
          </a:xfrm>
        </p:grpSpPr>
        <p:sp>
          <p:nvSpPr>
            <p:cNvPr id="38" name="Freeform 37">
              <a:extLst>
                <a:ext uri="{FF2B5EF4-FFF2-40B4-BE49-F238E27FC236}">
                  <a16:creationId xmlns:a16="http://schemas.microsoft.com/office/drawing/2014/main" id="{417D620B-6004-7E4F-C351-BA898AD147A7}"/>
                </a:ext>
              </a:extLst>
            </p:cNvPr>
            <p:cNvSpPr/>
            <p:nvPr/>
          </p:nvSpPr>
          <p:spPr>
            <a:xfrm>
              <a:off x="4661898" y="2236285"/>
              <a:ext cx="251227" cy="1025236"/>
            </a:xfrm>
            <a:custGeom>
              <a:avLst/>
              <a:gdLst>
                <a:gd name="csX0" fmla="*/ 251227 w 251227"/>
                <a:gd name="csY0" fmla="*/ 0 h 1025236"/>
                <a:gd name="csX1" fmla="*/ 1845 w 251227"/>
                <a:gd name="csY1" fmla="*/ 600363 h 1025236"/>
                <a:gd name="csX2" fmla="*/ 131154 w 251227"/>
                <a:gd name="csY2" fmla="*/ 1025236 h 1025236"/>
                <a:gd name="csX3" fmla="*/ 131154 w 251227"/>
                <a:gd name="csY3" fmla="*/ 1025236 h 1025236"/>
              </a:gdLst>
              <a:ahLst/>
              <a:cxnLst>
                <a:cxn ang="0">
                  <a:pos x="csX0" y="csY0"/>
                </a:cxn>
                <a:cxn ang="0">
                  <a:pos x="csX1" y="csY1"/>
                </a:cxn>
                <a:cxn ang="0">
                  <a:pos x="csX2" y="csY2"/>
                </a:cxn>
                <a:cxn ang="0">
                  <a:pos x="csX3" y="csY3"/>
                </a:cxn>
              </a:cxnLst>
              <a:rect l="l" t="t" r="r" b="b"/>
              <a:pathLst>
                <a:path w="251227" h="1025236">
                  <a:moveTo>
                    <a:pt x="251227" y="0"/>
                  </a:moveTo>
                  <a:cubicBezTo>
                    <a:pt x="136542" y="214745"/>
                    <a:pt x="21857" y="429491"/>
                    <a:pt x="1845" y="600363"/>
                  </a:cubicBezTo>
                  <a:cubicBezTo>
                    <a:pt x="-18167" y="771235"/>
                    <a:pt x="131154" y="1025236"/>
                    <a:pt x="131154" y="1025236"/>
                  </a:cubicBezTo>
                  <a:lnTo>
                    <a:pt x="131154" y="1025236"/>
                  </a:ln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riangle 40">
              <a:extLst>
                <a:ext uri="{FF2B5EF4-FFF2-40B4-BE49-F238E27FC236}">
                  <a16:creationId xmlns:a16="http://schemas.microsoft.com/office/drawing/2014/main" id="{97F773AB-80ED-E76B-75CE-E0F3A1DF1947}"/>
                </a:ext>
              </a:extLst>
            </p:cNvPr>
            <p:cNvSpPr/>
            <p:nvPr/>
          </p:nvSpPr>
          <p:spPr>
            <a:xfrm rot="16200000">
              <a:off x="4696945" y="3165377"/>
              <a:ext cx="131601" cy="119721"/>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9E09766B-1A14-D4B1-5CB2-367EA0BF0592}"/>
              </a:ext>
            </a:extLst>
          </p:cNvPr>
          <p:cNvGrpSpPr/>
          <p:nvPr/>
        </p:nvGrpSpPr>
        <p:grpSpPr>
          <a:xfrm>
            <a:off x="4145420" y="2198808"/>
            <a:ext cx="767704" cy="859194"/>
            <a:chOff x="4145420" y="2198808"/>
            <a:chExt cx="767704" cy="859194"/>
          </a:xfrm>
        </p:grpSpPr>
        <p:sp>
          <p:nvSpPr>
            <p:cNvPr id="45" name="Freeform 44">
              <a:extLst>
                <a:ext uri="{FF2B5EF4-FFF2-40B4-BE49-F238E27FC236}">
                  <a16:creationId xmlns:a16="http://schemas.microsoft.com/office/drawing/2014/main" id="{E424FADF-0A1E-882A-ADB1-070847BC55B9}"/>
                </a:ext>
              </a:extLst>
            </p:cNvPr>
            <p:cNvSpPr/>
            <p:nvPr/>
          </p:nvSpPr>
          <p:spPr>
            <a:xfrm>
              <a:off x="4215383" y="2267711"/>
              <a:ext cx="697741" cy="790291"/>
            </a:xfrm>
            <a:custGeom>
              <a:avLst/>
              <a:gdLst>
                <a:gd name="csX0" fmla="*/ 640080 w 640080"/>
                <a:gd name="csY0" fmla="*/ 713232 h 713232"/>
                <a:gd name="csX1" fmla="*/ 292608 w 640080"/>
                <a:gd name="csY1" fmla="*/ 411480 h 713232"/>
                <a:gd name="csX2" fmla="*/ 0 w 640080"/>
                <a:gd name="csY2" fmla="*/ 0 h 713232"/>
                <a:gd name="csX3" fmla="*/ 0 w 640080"/>
                <a:gd name="csY3" fmla="*/ 0 h 713232"/>
              </a:gdLst>
              <a:ahLst/>
              <a:cxnLst>
                <a:cxn ang="0">
                  <a:pos x="csX0" y="csY0"/>
                </a:cxn>
                <a:cxn ang="0">
                  <a:pos x="csX1" y="csY1"/>
                </a:cxn>
                <a:cxn ang="0">
                  <a:pos x="csX2" y="csY2"/>
                </a:cxn>
                <a:cxn ang="0">
                  <a:pos x="csX3" y="csY3"/>
                </a:cxn>
              </a:cxnLst>
              <a:rect l="l" t="t" r="r" b="b"/>
              <a:pathLst>
                <a:path w="640080" h="713232">
                  <a:moveTo>
                    <a:pt x="640080" y="713232"/>
                  </a:moveTo>
                  <a:cubicBezTo>
                    <a:pt x="519684" y="621792"/>
                    <a:pt x="399288" y="530352"/>
                    <a:pt x="292608" y="411480"/>
                  </a:cubicBezTo>
                  <a:cubicBezTo>
                    <a:pt x="185928" y="292608"/>
                    <a:pt x="0" y="0"/>
                    <a:pt x="0" y="0"/>
                  </a:cubicBezTo>
                  <a:lnTo>
                    <a:pt x="0" y="0"/>
                  </a:ln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riangle 45">
              <a:extLst>
                <a:ext uri="{FF2B5EF4-FFF2-40B4-BE49-F238E27FC236}">
                  <a16:creationId xmlns:a16="http://schemas.microsoft.com/office/drawing/2014/main" id="{26080EAE-5D85-7755-465F-9E93A21B0BAE}"/>
                </a:ext>
              </a:extLst>
            </p:cNvPr>
            <p:cNvSpPr/>
            <p:nvPr/>
          </p:nvSpPr>
          <p:spPr>
            <a:xfrm rot="19716469">
              <a:off x="4145420" y="2198808"/>
              <a:ext cx="131601" cy="119721"/>
            </a:xfrm>
            <a:prstGeom prst="triangle">
              <a:avLst/>
            </a:prstGeom>
            <a:solidFill>
              <a:schemeClr val="bg1"/>
            </a:solid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9DE20434-DD71-A361-7758-110A364FFE36}"/>
              </a:ext>
            </a:extLst>
          </p:cNvPr>
          <p:cNvGrpSpPr/>
          <p:nvPr/>
        </p:nvGrpSpPr>
        <p:grpSpPr>
          <a:xfrm>
            <a:off x="4242070" y="2774709"/>
            <a:ext cx="512810" cy="1727126"/>
            <a:chOff x="4242070" y="2774709"/>
            <a:chExt cx="512810" cy="1727126"/>
          </a:xfrm>
        </p:grpSpPr>
        <p:sp>
          <p:nvSpPr>
            <p:cNvPr id="48" name="Freeform 47">
              <a:extLst>
                <a:ext uri="{FF2B5EF4-FFF2-40B4-BE49-F238E27FC236}">
                  <a16:creationId xmlns:a16="http://schemas.microsoft.com/office/drawing/2014/main" id="{FDF45B0B-902A-DE40-AF4B-BAD908A02CB0}"/>
                </a:ext>
              </a:extLst>
            </p:cNvPr>
            <p:cNvSpPr/>
            <p:nvPr/>
          </p:nvSpPr>
          <p:spPr>
            <a:xfrm>
              <a:off x="4323408" y="2774709"/>
              <a:ext cx="431472" cy="1650987"/>
            </a:xfrm>
            <a:custGeom>
              <a:avLst/>
              <a:gdLst>
                <a:gd name="csX0" fmla="*/ 431472 w 431472"/>
                <a:gd name="csY0" fmla="*/ 151371 h 1650987"/>
                <a:gd name="csX1" fmla="*/ 56568 w 431472"/>
                <a:gd name="csY1" fmla="*/ 142227 h 1650987"/>
                <a:gd name="csX2" fmla="*/ 1704 w 431472"/>
                <a:gd name="csY2" fmla="*/ 1650987 h 1650987"/>
                <a:gd name="csX3" fmla="*/ 1704 w 431472"/>
                <a:gd name="csY3" fmla="*/ 1650987 h 1650987"/>
              </a:gdLst>
              <a:ahLst/>
              <a:cxnLst>
                <a:cxn ang="0">
                  <a:pos x="csX0" y="csY0"/>
                </a:cxn>
                <a:cxn ang="0">
                  <a:pos x="csX1" y="csY1"/>
                </a:cxn>
                <a:cxn ang="0">
                  <a:pos x="csX2" y="csY2"/>
                </a:cxn>
                <a:cxn ang="0">
                  <a:pos x="csX3" y="csY3"/>
                </a:cxn>
              </a:cxnLst>
              <a:rect l="l" t="t" r="r" b="b"/>
              <a:pathLst>
                <a:path w="431472" h="1650987">
                  <a:moveTo>
                    <a:pt x="431472" y="151371"/>
                  </a:moveTo>
                  <a:cubicBezTo>
                    <a:pt x="279834" y="21831"/>
                    <a:pt x="128196" y="-107709"/>
                    <a:pt x="56568" y="142227"/>
                  </a:cubicBezTo>
                  <a:cubicBezTo>
                    <a:pt x="-15060" y="392163"/>
                    <a:pt x="1704" y="1650987"/>
                    <a:pt x="1704" y="1650987"/>
                  </a:cubicBezTo>
                  <a:lnTo>
                    <a:pt x="1704" y="1650987"/>
                  </a:ln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riangle 48">
              <a:extLst>
                <a:ext uri="{FF2B5EF4-FFF2-40B4-BE49-F238E27FC236}">
                  <a16:creationId xmlns:a16="http://schemas.microsoft.com/office/drawing/2014/main" id="{EA839151-AB7B-CCE6-6620-E506B1175D37}"/>
                </a:ext>
              </a:extLst>
            </p:cNvPr>
            <p:cNvSpPr/>
            <p:nvPr/>
          </p:nvSpPr>
          <p:spPr>
            <a:xfrm rot="18000000">
              <a:off x="4236130" y="4376174"/>
              <a:ext cx="131601" cy="119721"/>
            </a:xfrm>
            <a:prstGeom prst="triangle">
              <a:avLst/>
            </a:prstGeom>
            <a:solidFill>
              <a:schemeClr val="bg1"/>
            </a:solidFill>
            <a:ln w="28575"/>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 name="Slide Number Placeholder 1">
            <a:extLst>
              <a:ext uri="{FF2B5EF4-FFF2-40B4-BE49-F238E27FC236}">
                <a16:creationId xmlns:a16="http://schemas.microsoft.com/office/drawing/2014/main" id="{44767FB4-510F-091A-533C-5A46A695D0D2}"/>
              </a:ext>
            </a:extLst>
          </p:cNvPr>
          <p:cNvSpPr>
            <a:spLocks noGrp="1"/>
          </p:cNvSpPr>
          <p:nvPr>
            <p:ph type="sldNum" sz="quarter" idx="12"/>
          </p:nvPr>
        </p:nvSpPr>
        <p:spPr/>
        <p:txBody>
          <a:bodyPr/>
          <a:lstStyle/>
          <a:p>
            <a:fld id="{31FF4958-03C2-D046-B93E-A6943D85A75D}" type="slidenum">
              <a:rPr lang="en-US" smtClean="0"/>
              <a:t>7</a:t>
            </a:fld>
            <a:endParaRPr lang="en-US"/>
          </a:p>
        </p:txBody>
      </p:sp>
    </p:spTree>
    <p:extLst>
      <p:ext uri="{BB962C8B-B14F-4D97-AF65-F5344CB8AC3E}">
        <p14:creationId xmlns:p14="http://schemas.microsoft.com/office/powerpoint/2010/main" val="3887166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4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8" grpId="0" animBg="1"/>
      <p:bldP spid="31" grpId="0" animBg="1"/>
      <p:bldP spid="34" grpId="0" animBg="1"/>
      <p:bldP spid="37" grpId="0" animBg="1"/>
      <p:bldP spid="55" grpId="0" animBg="1"/>
      <p:bldP spid="56" grpId="0" animBg="1"/>
      <p:bldP spid="57" grpId="0" animBg="1"/>
      <p:bldP spid="58" grpId="0" animBg="1"/>
      <p:bldP spid="59" grpId="0" animBg="1"/>
      <p:bldP spid="6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F094C88-3489-EE9C-0502-78846D67910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0306CB-AEA4-2B83-62A6-06D90DF7CF60}"/>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KEY MECHANISMS: Publication bias</a:t>
            </a:r>
          </a:p>
        </p:txBody>
      </p:sp>
      <p:pic>
        <p:nvPicPr>
          <p:cNvPr id="5" name="Picture 4">
            <a:extLst>
              <a:ext uri="{FF2B5EF4-FFF2-40B4-BE49-F238E27FC236}">
                <a16:creationId xmlns:a16="http://schemas.microsoft.com/office/drawing/2014/main" id="{C874B203-7FFF-4EF8-F11F-EA0CB4DC0B6E}"/>
              </a:ext>
            </a:extLst>
          </p:cNvPr>
          <p:cNvPicPr>
            <a:picLocks noChangeAspect="1"/>
          </p:cNvPicPr>
          <p:nvPr/>
        </p:nvPicPr>
        <p:blipFill>
          <a:blip r:embed="rId2"/>
          <a:srcRect b="4222"/>
          <a:stretch>
            <a:fillRect/>
          </a:stretch>
        </p:blipFill>
        <p:spPr>
          <a:xfrm>
            <a:off x="56311" y="70484"/>
            <a:ext cx="1333500" cy="1167728"/>
          </a:xfrm>
          <a:prstGeom prst="roundRect">
            <a:avLst>
              <a:gd name="adj" fmla="val 20527"/>
            </a:avLst>
          </a:prstGeom>
        </p:spPr>
      </p:pic>
      <p:pic>
        <p:nvPicPr>
          <p:cNvPr id="8" name="Picture 7">
            <a:extLst>
              <a:ext uri="{FF2B5EF4-FFF2-40B4-BE49-F238E27FC236}">
                <a16:creationId xmlns:a16="http://schemas.microsoft.com/office/drawing/2014/main" id="{C5B7AC13-9970-2C2B-F01C-29368EFE9B61}"/>
              </a:ext>
            </a:extLst>
          </p:cNvPr>
          <p:cNvPicPr>
            <a:picLocks noChangeAspect="1"/>
          </p:cNvPicPr>
          <p:nvPr/>
        </p:nvPicPr>
        <p:blipFill>
          <a:blip r:embed="rId3"/>
          <a:stretch>
            <a:fillRect/>
          </a:stretch>
        </p:blipFill>
        <p:spPr>
          <a:xfrm>
            <a:off x="2969950" y="910012"/>
            <a:ext cx="6252099" cy="5752800"/>
          </a:xfrm>
          <a:prstGeom prst="rect">
            <a:avLst/>
          </a:prstGeom>
        </p:spPr>
      </p:pic>
      <p:pic>
        <p:nvPicPr>
          <p:cNvPr id="9" name="Picture 8">
            <a:extLst>
              <a:ext uri="{FF2B5EF4-FFF2-40B4-BE49-F238E27FC236}">
                <a16:creationId xmlns:a16="http://schemas.microsoft.com/office/drawing/2014/main" id="{D79345AD-7F5A-B898-4715-08FFEE0ABD98}"/>
              </a:ext>
            </a:extLst>
          </p:cNvPr>
          <p:cNvPicPr>
            <a:picLocks noChangeAspect="1"/>
          </p:cNvPicPr>
          <p:nvPr/>
        </p:nvPicPr>
        <p:blipFill>
          <a:blip r:embed="rId4"/>
          <a:stretch>
            <a:fillRect/>
          </a:stretch>
        </p:blipFill>
        <p:spPr>
          <a:xfrm>
            <a:off x="2969949" y="910012"/>
            <a:ext cx="6252100" cy="5752800"/>
          </a:xfrm>
          <a:prstGeom prst="rect">
            <a:avLst/>
          </a:prstGeom>
        </p:spPr>
      </p:pic>
      <p:pic>
        <p:nvPicPr>
          <p:cNvPr id="10" name="Picture 9">
            <a:extLst>
              <a:ext uri="{FF2B5EF4-FFF2-40B4-BE49-F238E27FC236}">
                <a16:creationId xmlns:a16="http://schemas.microsoft.com/office/drawing/2014/main" id="{4C150579-0A99-F3A7-E024-DFA1354B67BA}"/>
              </a:ext>
            </a:extLst>
          </p:cNvPr>
          <p:cNvPicPr>
            <a:picLocks noChangeAspect="1"/>
          </p:cNvPicPr>
          <p:nvPr/>
        </p:nvPicPr>
        <p:blipFill>
          <a:blip r:embed="rId5"/>
          <a:stretch>
            <a:fillRect/>
          </a:stretch>
        </p:blipFill>
        <p:spPr>
          <a:xfrm>
            <a:off x="2969949" y="910012"/>
            <a:ext cx="6252100" cy="5752800"/>
          </a:xfrm>
          <a:prstGeom prst="rect">
            <a:avLst/>
          </a:prstGeom>
        </p:spPr>
      </p:pic>
      <p:pic>
        <p:nvPicPr>
          <p:cNvPr id="14" name="Picture 13">
            <a:extLst>
              <a:ext uri="{FF2B5EF4-FFF2-40B4-BE49-F238E27FC236}">
                <a16:creationId xmlns:a16="http://schemas.microsoft.com/office/drawing/2014/main" id="{9AABF8D7-4936-663B-0576-F69C9B3893B7}"/>
              </a:ext>
            </a:extLst>
          </p:cNvPr>
          <p:cNvPicPr>
            <a:picLocks noChangeAspect="1"/>
          </p:cNvPicPr>
          <p:nvPr/>
        </p:nvPicPr>
        <p:blipFill>
          <a:blip r:embed="rId6"/>
          <a:stretch>
            <a:fillRect/>
          </a:stretch>
        </p:blipFill>
        <p:spPr>
          <a:xfrm>
            <a:off x="2969949" y="910012"/>
            <a:ext cx="6252100" cy="5752800"/>
          </a:xfrm>
          <a:prstGeom prst="rect">
            <a:avLst/>
          </a:prstGeom>
        </p:spPr>
      </p:pic>
      <p:pic>
        <p:nvPicPr>
          <p:cNvPr id="19" name="Picture 18">
            <a:extLst>
              <a:ext uri="{FF2B5EF4-FFF2-40B4-BE49-F238E27FC236}">
                <a16:creationId xmlns:a16="http://schemas.microsoft.com/office/drawing/2014/main" id="{58B3678F-7685-2D89-2CEF-5C2F6E6CFE56}"/>
              </a:ext>
            </a:extLst>
          </p:cNvPr>
          <p:cNvPicPr>
            <a:picLocks noChangeAspect="1"/>
          </p:cNvPicPr>
          <p:nvPr/>
        </p:nvPicPr>
        <p:blipFill>
          <a:blip r:embed="rId7"/>
          <a:stretch>
            <a:fillRect/>
          </a:stretch>
        </p:blipFill>
        <p:spPr>
          <a:xfrm>
            <a:off x="2969948" y="910012"/>
            <a:ext cx="6252100" cy="5752800"/>
          </a:xfrm>
          <a:prstGeom prst="rect">
            <a:avLst/>
          </a:prstGeom>
        </p:spPr>
      </p:pic>
      <p:pic>
        <p:nvPicPr>
          <p:cNvPr id="20" name="Picture 19">
            <a:extLst>
              <a:ext uri="{FF2B5EF4-FFF2-40B4-BE49-F238E27FC236}">
                <a16:creationId xmlns:a16="http://schemas.microsoft.com/office/drawing/2014/main" id="{3F42AB60-ECFD-C29E-B44D-0CDBABA24E9E}"/>
              </a:ext>
            </a:extLst>
          </p:cNvPr>
          <p:cNvPicPr>
            <a:picLocks noChangeAspect="1"/>
          </p:cNvPicPr>
          <p:nvPr/>
        </p:nvPicPr>
        <p:blipFill>
          <a:blip r:embed="rId8"/>
          <a:stretch>
            <a:fillRect/>
          </a:stretch>
        </p:blipFill>
        <p:spPr>
          <a:xfrm>
            <a:off x="2969947" y="910012"/>
            <a:ext cx="6252100" cy="5752800"/>
          </a:xfrm>
          <a:prstGeom prst="rect">
            <a:avLst/>
          </a:prstGeom>
        </p:spPr>
      </p:pic>
      <p:pic>
        <p:nvPicPr>
          <p:cNvPr id="21" name="Picture 20">
            <a:extLst>
              <a:ext uri="{FF2B5EF4-FFF2-40B4-BE49-F238E27FC236}">
                <a16:creationId xmlns:a16="http://schemas.microsoft.com/office/drawing/2014/main" id="{5CD9E7E0-CF2F-AEE7-97EF-66903C3049D0}"/>
              </a:ext>
            </a:extLst>
          </p:cNvPr>
          <p:cNvPicPr>
            <a:picLocks noChangeAspect="1"/>
          </p:cNvPicPr>
          <p:nvPr/>
        </p:nvPicPr>
        <p:blipFill>
          <a:blip r:embed="rId9"/>
          <a:stretch>
            <a:fillRect/>
          </a:stretch>
        </p:blipFill>
        <p:spPr>
          <a:xfrm>
            <a:off x="2969946" y="910012"/>
            <a:ext cx="6252100" cy="5752800"/>
          </a:xfrm>
          <a:prstGeom prst="rect">
            <a:avLst/>
          </a:prstGeom>
        </p:spPr>
      </p:pic>
      <p:pic>
        <p:nvPicPr>
          <p:cNvPr id="22" name="Picture 21">
            <a:extLst>
              <a:ext uri="{FF2B5EF4-FFF2-40B4-BE49-F238E27FC236}">
                <a16:creationId xmlns:a16="http://schemas.microsoft.com/office/drawing/2014/main" id="{E54B5A61-EF59-8B2F-C555-B05918559A3C}"/>
              </a:ext>
            </a:extLst>
          </p:cNvPr>
          <p:cNvPicPr>
            <a:picLocks noChangeAspect="1"/>
          </p:cNvPicPr>
          <p:nvPr/>
        </p:nvPicPr>
        <p:blipFill>
          <a:blip r:embed="rId10"/>
          <a:stretch>
            <a:fillRect/>
          </a:stretch>
        </p:blipFill>
        <p:spPr>
          <a:xfrm>
            <a:off x="2969946" y="910012"/>
            <a:ext cx="6252100" cy="5752800"/>
          </a:xfrm>
          <a:prstGeom prst="rect">
            <a:avLst/>
          </a:prstGeom>
        </p:spPr>
      </p:pic>
      <p:sp>
        <p:nvSpPr>
          <p:cNvPr id="2" name="Slide Number Placeholder 1">
            <a:extLst>
              <a:ext uri="{FF2B5EF4-FFF2-40B4-BE49-F238E27FC236}">
                <a16:creationId xmlns:a16="http://schemas.microsoft.com/office/drawing/2014/main" id="{709C7018-2DF3-AD3B-0381-95D794C843E0}"/>
              </a:ext>
            </a:extLst>
          </p:cNvPr>
          <p:cNvSpPr>
            <a:spLocks noGrp="1"/>
          </p:cNvSpPr>
          <p:nvPr>
            <p:ph type="sldNum" sz="quarter" idx="12"/>
          </p:nvPr>
        </p:nvSpPr>
        <p:spPr/>
        <p:txBody>
          <a:bodyPr/>
          <a:lstStyle/>
          <a:p>
            <a:fld id="{31FF4958-03C2-D046-B93E-A6943D85A75D}" type="slidenum">
              <a:rPr lang="en-US" smtClean="0"/>
              <a:t>8</a:t>
            </a:fld>
            <a:endParaRPr lang="en-US"/>
          </a:p>
        </p:txBody>
      </p:sp>
    </p:spTree>
    <p:extLst>
      <p:ext uri="{BB962C8B-B14F-4D97-AF65-F5344CB8AC3E}">
        <p14:creationId xmlns:p14="http://schemas.microsoft.com/office/powerpoint/2010/main" val="722772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1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nodeType="afterEffect">
                                  <p:stCondLst>
                                    <p:cond delay="500"/>
                                  </p:stCondLst>
                                  <p:childTnLst>
                                    <p:set>
                                      <p:cBhvr>
                                        <p:cTn id="15" dur="1" fill="hold">
                                          <p:stCondLst>
                                            <p:cond delay="0"/>
                                          </p:stCondLst>
                                        </p:cTn>
                                        <p:tgtEl>
                                          <p:spTgt spid="19"/>
                                        </p:tgtEl>
                                        <p:attrNameLst>
                                          <p:attrName>style.visibility</p:attrName>
                                        </p:attrNameLst>
                                      </p:cBhvr>
                                      <p:to>
                                        <p:strVal val="visible"/>
                                      </p:to>
                                    </p:set>
                                  </p:childTnLst>
                                </p:cTn>
                              </p:par>
                            </p:childTnLst>
                          </p:cTn>
                        </p:par>
                        <p:par>
                          <p:cTn id="16" fill="hold">
                            <p:stCondLst>
                              <p:cond delay="2500"/>
                            </p:stCondLst>
                            <p:childTnLst>
                              <p:par>
                                <p:cTn id="17" presetID="1" presetClass="entr" presetSubtype="0" fill="hold" nodeType="afterEffect">
                                  <p:stCondLst>
                                    <p:cond delay="500"/>
                                  </p:stCondLst>
                                  <p:childTnLst>
                                    <p:set>
                                      <p:cBhvr>
                                        <p:cTn id="18" dur="1" fill="hold">
                                          <p:stCondLst>
                                            <p:cond delay="0"/>
                                          </p:stCondLst>
                                        </p:cTn>
                                        <p:tgtEl>
                                          <p:spTgt spid="20"/>
                                        </p:tgtEl>
                                        <p:attrNameLst>
                                          <p:attrName>style.visibility</p:attrName>
                                        </p:attrNameLst>
                                      </p:cBhvr>
                                      <p:to>
                                        <p:strVal val="visible"/>
                                      </p:to>
                                    </p:set>
                                  </p:childTnLst>
                                </p:cTn>
                              </p:par>
                            </p:childTnLst>
                          </p:cTn>
                        </p:par>
                        <p:par>
                          <p:cTn id="19" fill="hold">
                            <p:stCondLst>
                              <p:cond delay="3000"/>
                            </p:stCondLst>
                            <p:childTnLst>
                              <p:par>
                                <p:cTn id="20" presetID="1" presetClass="entr" presetSubtype="0" fill="hold" nodeType="afterEffect">
                                  <p:stCondLst>
                                    <p:cond delay="500"/>
                                  </p:stCondLst>
                                  <p:childTnLst>
                                    <p:set>
                                      <p:cBhvr>
                                        <p:cTn id="21" dur="1" fill="hold">
                                          <p:stCondLst>
                                            <p:cond delay="0"/>
                                          </p:stCondLst>
                                        </p:cTn>
                                        <p:tgtEl>
                                          <p:spTgt spid="21"/>
                                        </p:tgtEl>
                                        <p:attrNameLst>
                                          <p:attrName>style.visibility</p:attrName>
                                        </p:attrNameLst>
                                      </p:cBhvr>
                                      <p:to>
                                        <p:strVal val="visible"/>
                                      </p:to>
                                    </p:set>
                                  </p:childTnLst>
                                </p:cTn>
                              </p:par>
                            </p:childTnLst>
                          </p:cTn>
                        </p:par>
                        <p:par>
                          <p:cTn id="22" fill="hold">
                            <p:stCondLst>
                              <p:cond delay="3500"/>
                            </p:stCondLst>
                            <p:childTnLst>
                              <p:par>
                                <p:cTn id="23" presetID="1" presetClass="entr" presetSubtype="0" fill="hold" nodeType="afterEffect">
                                  <p:stCondLst>
                                    <p:cond delay="50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C0A146B-9061-610A-3517-9F6F3CD8B0D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A5D6E99-DC3C-BC3C-D079-FA075A7C2C19}"/>
              </a:ext>
            </a:extLst>
          </p:cNvPr>
          <p:cNvPicPr>
            <a:picLocks noChangeAspect="1"/>
          </p:cNvPicPr>
          <p:nvPr/>
        </p:nvPicPr>
        <p:blipFill>
          <a:blip r:embed="rId2"/>
          <a:stretch>
            <a:fillRect/>
          </a:stretch>
        </p:blipFill>
        <p:spPr>
          <a:xfrm>
            <a:off x="128383" y="985838"/>
            <a:ext cx="11935233" cy="5743575"/>
          </a:xfrm>
          <a:prstGeom prst="rect">
            <a:avLst/>
          </a:prstGeom>
        </p:spPr>
      </p:pic>
      <p:sp>
        <p:nvSpPr>
          <p:cNvPr id="10" name="Rectangle 9">
            <a:extLst>
              <a:ext uri="{FF2B5EF4-FFF2-40B4-BE49-F238E27FC236}">
                <a16:creationId xmlns:a16="http://schemas.microsoft.com/office/drawing/2014/main" id="{B6AABB1C-CEA7-45CA-6ED3-6B8A2C8BA423}"/>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latin typeface="Britannic Bold" panose="020B0903060703020204" pitchFamily="34" charset="77"/>
              </a:rPr>
              <a:t>MODEL DIAGRAM </a:t>
            </a:r>
          </a:p>
          <a:p>
            <a:pPr algn="ctr"/>
            <a:r>
              <a:rPr lang="en-AU" sz="1400" dirty="0">
                <a:solidFill>
                  <a:schemeClr val="tx1"/>
                </a:solidFill>
                <a:latin typeface="Britannic Bold" panose="020B0903060703020204" pitchFamily="34" charset="77"/>
              </a:rPr>
              <a:t>(ODD: OVERVIEW, DESIGN CONCEPTS, AND DETAILS; </a:t>
            </a:r>
            <a:r>
              <a:rPr lang="en-AU" sz="1400" b="1" dirty="0">
                <a:solidFill>
                  <a:schemeClr val="tx1"/>
                </a:solidFill>
                <a:latin typeface="Britannic Bold" panose="020B0903060703020204" pitchFamily="34" charset="77"/>
              </a:rPr>
              <a:t>SZANGOLIES ET AL., 2024</a:t>
            </a:r>
            <a:r>
              <a:rPr lang="en-AU" sz="1400" dirty="0">
                <a:solidFill>
                  <a:schemeClr val="tx1"/>
                </a:solidFill>
                <a:latin typeface="Britannic Bold" panose="020B0903060703020204" pitchFamily="34" charset="77"/>
              </a:rPr>
              <a:t>)</a:t>
            </a:r>
            <a:endParaRPr lang="en-US" sz="1400" dirty="0">
              <a:solidFill>
                <a:schemeClr val="tx1"/>
              </a:solidFill>
              <a:latin typeface="Britannic Bold" panose="020B0903060703020204" pitchFamily="34" charset="77"/>
            </a:endParaRPr>
          </a:p>
        </p:txBody>
      </p:sp>
      <p:sp>
        <p:nvSpPr>
          <p:cNvPr id="2" name="Slide Number Placeholder 1">
            <a:extLst>
              <a:ext uri="{FF2B5EF4-FFF2-40B4-BE49-F238E27FC236}">
                <a16:creationId xmlns:a16="http://schemas.microsoft.com/office/drawing/2014/main" id="{8FEDC536-4A91-BFAC-7EFF-64DC8C22FC70}"/>
              </a:ext>
            </a:extLst>
          </p:cNvPr>
          <p:cNvSpPr>
            <a:spLocks noGrp="1"/>
          </p:cNvSpPr>
          <p:nvPr>
            <p:ph type="sldNum" sz="quarter" idx="12"/>
          </p:nvPr>
        </p:nvSpPr>
        <p:spPr/>
        <p:txBody>
          <a:bodyPr/>
          <a:lstStyle/>
          <a:p>
            <a:fld id="{31FF4958-03C2-D046-B93E-A6943D85A75D}" type="slidenum">
              <a:rPr lang="en-US" smtClean="0"/>
              <a:t>9</a:t>
            </a:fld>
            <a:endParaRPr lang="en-US"/>
          </a:p>
        </p:txBody>
      </p:sp>
      <p:pic>
        <p:nvPicPr>
          <p:cNvPr id="3" name="Picture 2" descr="A diagram of a normal distribution&#10;&#10;AI-generated content may be incorrect.">
            <a:extLst>
              <a:ext uri="{FF2B5EF4-FFF2-40B4-BE49-F238E27FC236}">
                <a16:creationId xmlns:a16="http://schemas.microsoft.com/office/drawing/2014/main" id="{CC10E386-A07C-F356-ACEC-F985FDF49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1597" y="2803712"/>
            <a:ext cx="1467399" cy="1348650"/>
          </a:xfrm>
          <a:prstGeom prst="roundRect">
            <a:avLst>
              <a:gd name="adj" fmla="val 34696"/>
            </a:avLst>
          </a:prstGeom>
        </p:spPr>
      </p:pic>
      <p:sp>
        <p:nvSpPr>
          <p:cNvPr id="4" name="TextBox 3">
            <a:extLst>
              <a:ext uri="{FF2B5EF4-FFF2-40B4-BE49-F238E27FC236}">
                <a16:creationId xmlns:a16="http://schemas.microsoft.com/office/drawing/2014/main" id="{80BAB077-99A2-C0C1-F6A3-ECBEE62DDC1A}"/>
              </a:ext>
            </a:extLst>
          </p:cNvPr>
          <p:cNvSpPr txBox="1"/>
          <p:nvPr/>
        </p:nvSpPr>
        <p:spPr>
          <a:xfrm>
            <a:off x="773517" y="1643883"/>
            <a:ext cx="1948417" cy="400110"/>
          </a:xfrm>
          <a:prstGeom prst="rect">
            <a:avLst/>
          </a:prstGeom>
          <a:solidFill>
            <a:srgbClr val="1F4E79"/>
          </a:solidFill>
        </p:spPr>
        <p:txBody>
          <a:bodyPr wrap="square">
            <a:spAutoFit/>
          </a:bodyPr>
          <a:lstStyle/>
          <a:p>
            <a:pPr algn="ctr">
              <a:lnSpc>
                <a:spcPct val="100000"/>
              </a:lnSpc>
            </a:pPr>
            <a:r>
              <a:rPr lang="en-GB" sz="2000" b="1" strike="noStrike" spc="-1" dirty="0">
                <a:solidFill>
                  <a:srgbClr val="FFFFFF"/>
                </a:solidFill>
                <a:latin typeface="Britannic Bold" panose="020B0903060703020204" pitchFamily="34" charset="77"/>
                <a:ea typeface="Helvetica Neue"/>
              </a:rPr>
              <a:t>ENTITIES</a:t>
            </a:r>
            <a:endParaRPr lang="en-US" b="0" strike="noStrike" spc="-1" dirty="0">
              <a:latin typeface="Britannic Bold" panose="020B0903060703020204" pitchFamily="34" charset="77"/>
            </a:endParaRPr>
          </a:p>
        </p:txBody>
      </p:sp>
      <p:pic>
        <p:nvPicPr>
          <p:cNvPr id="5" name="Picture 4" descr="A blue square tile on a white surface&#10;&#10;AI-generated content may be incorrect.">
            <a:extLst>
              <a:ext uri="{FF2B5EF4-FFF2-40B4-BE49-F238E27FC236}">
                <a16:creationId xmlns:a16="http://schemas.microsoft.com/office/drawing/2014/main" id="{E5A7C4E3-ECDE-6982-AADC-243793F7D1AA}"/>
              </a:ext>
            </a:extLst>
          </p:cNvPr>
          <p:cNvPicPr>
            <a:picLocks noChangeAspect="1"/>
          </p:cNvPicPr>
          <p:nvPr/>
        </p:nvPicPr>
        <p:blipFill>
          <a:blip r:embed="rId4"/>
          <a:stretch>
            <a:fillRect/>
          </a:stretch>
        </p:blipFill>
        <p:spPr>
          <a:xfrm>
            <a:off x="1665620" y="5478958"/>
            <a:ext cx="1056314" cy="248004"/>
          </a:xfrm>
          <a:prstGeom prst="rect">
            <a:avLst/>
          </a:prstGeom>
        </p:spPr>
      </p:pic>
    </p:spTree>
    <p:extLst>
      <p:ext uri="{BB962C8B-B14F-4D97-AF65-F5344CB8AC3E}">
        <p14:creationId xmlns:p14="http://schemas.microsoft.com/office/powerpoint/2010/main" val="1081821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350ABFB-D17E-FFCB-7C4A-57416686407C}"/>
              </a:ext>
            </a:extLst>
          </p:cNvPr>
          <p:cNvSpPr/>
          <p:nvPr/>
        </p:nvSpPr>
        <p:spPr>
          <a:xfrm>
            <a:off x="3957484" y="954593"/>
            <a:ext cx="4277032" cy="1022555"/>
          </a:xfrm>
          <a:prstGeom prst="round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E79F00"/>
                </a:solidFill>
              </a:rPr>
              <a:t>Sample size = 30 per group</a:t>
            </a:r>
          </a:p>
          <a:p>
            <a:pPr algn="ctr"/>
            <a:r>
              <a:rPr lang="en-US" b="1" dirty="0">
                <a:solidFill>
                  <a:srgbClr val="55B3E8"/>
                </a:solidFill>
              </a:rPr>
              <a:t>Publication bias = 1.5 (medium)</a:t>
            </a:r>
          </a:p>
          <a:p>
            <a:pPr algn="ctr"/>
            <a:r>
              <a:rPr lang="en-US" b="1" dirty="0">
                <a:solidFill>
                  <a:srgbClr val="009F73"/>
                </a:solidFill>
              </a:rPr>
              <a:t>Base null probability = 0.9</a:t>
            </a:r>
          </a:p>
        </p:txBody>
      </p:sp>
      <p:sp>
        <p:nvSpPr>
          <p:cNvPr id="2" name="Rectangle 1">
            <a:extLst>
              <a:ext uri="{FF2B5EF4-FFF2-40B4-BE49-F238E27FC236}">
                <a16:creationId xmlns:a16="http://schemas.microsoft.com/office/drawing/2014/main" id="{ACEC5730-3142-6E57-5F02-5FA8EC5D1B78}"/>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RESULTS: Single simulation</a:t>
            </a:r>
          </a:p>
        </p:txBody>
      </p:sp>
      <p:pic>
        <p:nvPicPr>
          <p:cNvPr id="7" name="Picture 6">
            <a:extLst>
              <a:ext uri="{FF2B5EF4-FFF2-40B4-BE49-F238E27FC236}">
                <a16:creationId xmlns:a16="http://schemas.microsoft.com/office/drawing/2014/main" id="{E959AE37-47F4-7912-AD38-516577FDD427}"/>
              </a:ext>
            </a:extLst>
          </p:cNvPr>
          <p:cNvPicPr>
            <a:picLocks noChangeAspect="1"/>
          </p:cNvPicPr>
          <p:nvPr/>
        </p:nvPicPr>
        <p:blipFill>
          <a:blip r:embed="rId2"/>
          <a:stretch>
            <a:fillRect/>
          </a:stretch>
        </p:blipFill>
        <p:spPr>
          <a:xfrm>
            <a:off x="1399227" y="2148840"/>
            <a:ext cx="4439397" cy="4239260"/>
          </a:xfrm>
          <a:prstGeom prst="roundRect">
            <a:avLst>
              <a:gd name="adj" fmla="val 9549"/>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1BB491CD-2BE3-4000-FA9D-6439DA941AFC}"/>
              </a:ext>
            </a:extLst>
          </p:cNvPr>
          <p:cNvPicPr>
            <a:picLocks noChangeAspect="1"/>
          </p:cNvPicPr>
          <p:nvPr/>
        </p:nvPicPr>
        <p:blipFill>
          <a:blip r:embed="rId3"/>
          <a:stretch>
            <a:fillRect/>
          </a:stretch>
        </p:blipFill>
        <p:spPr>
          <a:xfrm>
            <a:off x="6353376" y="2148840"/>
            <a:ext cx="4439397" cy="4239260"/>
          </a:xfrm>
          <a:prstGeom prst="roundRect">
            <a:avLst>
              <a:gd name="adj" fmla="val 9333"/>
            </a:avLst>
          </a:prstGeom>
          <a:effectLst>
            <a:outerShdw blurRad="50800" dist="38100" dir="5400000" algn="t" rotWithShape="0">
              <a:prstClr val="black">
                <a:alpha val="40000"/>
              </a:prstClr>
            </a:outerShdw>
          </a:effectLst>
        </p:spPr>
      </p:pic>
      <p:sp>
        <p:nvSpPr>
          <p:cNvPr id="3" name="Slide Number Placeholder 2">
            <a:extLst>
              <a:ext uri="{FF2B5EF4-FFF2-40B4-BE49-F238E27FC236}">
                <a16:creationId xmlns:a16="http://schemas.microsoft.com/office/drawing/2014/main" id="{D0AFEDE7-6D8C-BBB7-5325-E7C08B4C24EE}"/>
              </a:ext>
            </a:extLst>
          </p:cNvPr>
          <p:cNvSpPr>
            <a:spLocks noGrp="1"/>
          </p:cNvSpPr>
          <p:nvPr>
            <p:ph type="sldNum" sz="quarter" idx="12"/>
          </p:nvPr>
        </p:nvSpPr>
        <p:spPr/>
        <p:txBody>
          <a:bodyPr/>
          <a:lstStyle/>
          <a:p>
            <a:fld id="{31FF4958-03C2-D046-B93E-A6943D85A75D}" type="slidenum">
              <a:rPr lang="en-US" smtClean="0"/>
              <a:t>10</a:t>
            </a:fld>
            <a:endParaRPr lang="en-US"/>
          </a:p>
        </p:txBody>
      </p:sp>
    </p:spTree>
    <p:extLst>
      <p:ext uri="{BB962C8B-B14F-4D97-AF65-F5344CB8AC3E}">
        <p14:creationId xmlns:p14="http://schemas.microsoft.com/office/powerpoint/2010/main" val="2695307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C3F5DE3A-78B7-E4BA-1239-1E2700285689}"/>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02AF591B-EACD-F77E-B32D-9364228AD7B0}"/>
              </a:ext>
            </a:extLst>
          </p:cNvPr>
          <p:cNvGrpSpPr/>
          <p:nvPr/>
        </p:nvGrpSpPr>
        <p:grpSpPr>
          <a:xfrm>
            <a:off x="159489" y="2156637"/>
            <a:ext cx="6558996" cy="4552508"/>
            <a:chOff x="159489" y="2156637"/>
            <a:chExt cx="6558996" cy="4552508"/>
          </a:xfrm>
        </p:grpSpPr>
        <p:sp>
          <p:nvSpPr>
            <p:cNvPr id="7" name="Rounded Rectangle 6">
              <a:extLst>
                <a:ext uri="{FF2B5EF4-FFF2-40B4-BE49-F238E27FC236}">
                  <a16:creationId xmlns:a16="http://schemas.microsoft.com/office/drawing/2014/main" id="{13F7D7FD-3682-DB15-EBD2-55619E6391FD}"/>
                </a:ext>
              </a:extLst>
            </p:cNvPr>
            <p:cNvSpPr/>
            <p:nvPr/>
          </p:nvSpPr>
          <p:spPr>
            <a:xfrm>
              <a:off x="159489" y="2156637"/>
              <a:ext cx="6558996" cy="1052728"/>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Marginal Effects</a:t>
              </a:r>
            </a:p>
          </p:txBody>
        </p:sp>
        <p:pic>
          <p:nvPicPr>
            <p:cNvPr id="8" name="Picture 7">
              <a:extLst>
                <a:ext uri="{FF2B5EF4-FFF2-40B4-BE49-F238E27FC236}">
                  <a16:creationId xmlns:a16="http://schemas.microsoft.com/office/drawing/2014/main" id="{DB869CCA-7845-8105-359E-DE548A121B0F}"/>
                </a:ext>
              </a:extLst>
            </p:cNvPr>
            <p:cNvPicPr>
              <a:picLocks noChangeAspect="1"/>
            </p:cNvPicPr>
            <p:nvPr/>
          </p:nvPicPr>
          <p:blipFill>
            <a:blip r:embed="rId3"/>
            <a:stretch>
              <a:fillRect/>
            </a:stretch>
          </p:blipFill>
          <p:spPr>
            <a:xfrm>
              <a:off x="159489" y="2660904"/>
              <a:ext cx="6558996" cy="4048241"/>
            </a:xfrm>
            <a:prstGeom prst="roundRect">
              <a:avLst>
                <a:gd name="adj" fmla="val 5681"/>
              </a:avLst>
            </a:prstGeom>
            <a:effectLst>
              <a:outerShdw blurRad="50800" dist="38100" dir="5400000" algn="t" rotWithShape="0">
                <a:prstClr val="black">
                  <a:alpha val="40000"/>
                </a:prstClr>
              </a:outerShdw>
            </a:effectLst>
          </p:spPr>
        </p:pic>
      </p:grpSp>
      <p:pic>
        <p:nvPicPr>
          <p:cNvPr id="6" name="Picture 5">
            <a:extLst>
              <a:ext uri="{FF2B5EF4-FFF2-40B4-BE49-F238E27FC236}">
                <a16:creationId xmlns:a16="http://schemas.microsoft.com/office/drawing/2014/main" id="{2CD4A7AF-FECA-2AE3-75B9-42ABDE418578}"/>
              </a:ext>
            </a:extLst>
          </p:cNvPr>
          <p:cNvPicPr>
            <a:picLocks noChangeAspect="1"/>
          </p:cNvPicPr>
          <p:nvPr/>
        </p:nvPicPr>
        <p:blipFill>
          <a:blip r:embed="rId4"/>
          <a:stretch>
            <a:fillRect/>
          </a:stretch>
        </p:blipFill>
        <p:spPr>
          <a:xfrm>
            <a:off x="2514533" y="954593"/>
            <a:ext cx="4017986" cy="2481106"/>
          </a:xfrm>
          <a:prstGeom prst="roundRect">
            <a:avLst>
              <a:gd name="adj" fmla="val 8333"/>
            </a:avLst>
          </a:prstGeom>
          <a:effectLst>
            <a:outerShdw blurRad="50800" dist="38100" dir="5400000" algn="t" rotWithShape="0">
              <a:prstClr val="black">
                <a:alpha val="40000"/>
              </a:prstClr>
            </a:outerShdw>
          </a:effectLst>
        </p:spPr>
      </p:pic>
      <p:sp>
        <p:nvSpPr>
          <p:cNvPr id="10" name="Rectangle 9">
            <a:extLst>
              <a:ext uri="{FF2B5EF4-FFF2-40B4-BE49-F238E27FC236}">
                <a16:creationId xmlns:a16="http://schemas.microsoft.com/office/drawing/2014/main" id="{5232E82D-C1B5-B4C2-2793-EC200039754A}"/>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RESULTS: Total scientific progress</a:t>
            </a:r>
          </a:p>
        </p:txBody>
      </p:sp>
      <p:grpSp>
        <p:nvGrpSpPr>
          <p:cNvPr id="16" name="Group 15">
            <a:extLst>
              <a:ext uri="{FF2B5EF4-FFF2-40B4-BE49-F238E27FC236}">
                <a16:creationId xmlns:a16="http://schemas.microsoft.com/office/drawing/2014/main" id="{9880AAED-4B61-EBFF-F5A1-C2EDB06AD9E9}"/>
              </a:ext>
            </a:extLst>
          </p:cNvPr>
          <p:cNvGrpSpPr/>
          <p:nvPr/>
        </p:nvGrpSpPr>
        <p:grpSpPr>
          <a:xfrm>
            <a:off x="7148081" y="954593"/>
            <a:ext cx="4716293" cy="5318062"/>
            <a:chOff x="7148081" y="954593"/>
            <a:chExt cx="4716293" cy="5318062"/>
          </a:xfrm>
        </p:grpSpPr>
        <p:sp>
          <p:nvSpPr>
            <p:cNvPr id="9" name="Rounded Rectangle 8">
              <a:extLst>
                <a:ext uri="{FF2B5EF4-FFF2-40B4-BE49-F238E27FC236}">
                  <a16:creationId xmlns:a16="http://schemas.microsoft.com/office/drawing/2014/main" id="{50CFF129-1876-CEED-4874-7FB058D304A0}"/>
                </a:ext>
              </a:extLst>
            </p:cNvPr>
            <p:cNvSpPr/>
            <p:nvPr/>
          </p:nvSpPr>
          <p:spPr>
            <a:xfrm>
              <a:off x="7148081" y="954593"/>
              <a:ext cx="4716293" cy="954592"/>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tx1"/>
                  </a:solidFill>
                </a:rPr>
                <a:t>Effects broken down by scenario</a:t>
              </a:r>
            </a:p>
          </p:txBody>
        </p:sp>
        <p:pic>
          <p:nvPicPr>
            <p:cNvPr id="11" name="Picture 10">
              <a:extLst>
                <a:ext uri="{FF2B5EF4-FFF2-40B4-BE49-F238E27FC236}">
                  <a16:creationId xmlns:a16="http://schemas.microsoft.com/office/drawing/2014/main" id="{F281606B-B9E0-03FB-56AE-A034A70D8F8F}"/>
                </a:ext>
              </a:extLst>
            </p:cNvPr>
            <p:cNvPicPr>
              <a:picLocks noChangeAspect="1"/>
            </p:cNvPicPr>
            <p:nvPr/>
          </p:nvPicPr>
          <p:blipFill>
            <a:blip r:embed="rId5"/>
            <a:stretch>
              <a:fillRect/>
            </a:stretch>
          </p:blipFill>
          <p:spPr>
            <a:xfrm>
              <a:off x="7148082" y="1381002"/>
              <a:ext cx="4716292" cy="4891653"/>
            </a:xfrm>
            <a:prstGeom prst="roundRect">
              <a:avLst>
                <a:gd name="adj" fmla="val 6391"/>
              </a:avLst>
            </a:prstGeom>
            <a:effectLst>
              <a:outerShdw blurRad="50800" dist="38100" dir="5400000" algn="t" rotWithShape="0">
                <a:prstClr val="black">
                  <a:alpha val="40000"/>
                </a:prstClr>
              </a:outerShdw>
            </a:effectLst>
          </p:spPr>
        </p:pic>
      </p:grpSp>
      <p:pic>
        <p:nvPicPr>
          <p:cNvPr id="12" name="Picture 11">
            <a:extLst>
              <a:ext uri="{FF2B5EF4-FFF2-40B4-BE49-F238E27FC236}">
                <a16:creationId xmlns:a16="http://schemas.microsoft.com/office/drawing/2014/main" id="{4E336147-A0FA-5E1C-6553-ABDF7C42FC71}"/>
              </a:ext>
            </a:extLst>
          </p:cNvPr>
          <p:cNvPicPr>
            <a:picLocks noChangeAspect="1"/>
          </p:cNvPicPr>
          <p:nvPr/>
        </p:nvPicPr>
        <p:blipFill>
          <a:blip r:embed="rId6"/>
          <a:stretch>
            <a:fillRect/>
          </a:stretch>
        </p:blipFill>
        <p:spPr>
          <a:xfrm>
            <a:off x="7148081" y="1381002"/>
            <a:ext cx="4716293" cy="4891654"/>
          </a:xfrm>
          <a:prstGeom prst="roundRect">
            <a:avLst>
              <a:gd name="adj" fmla="val 6004"/>
            </a:avLst>
          </a:prstGeom>
          <a:effectLst/>
        </p:spPr>
      </p:pic>
      <p:pic>
        <p:nvPicPr>
          <p:cNvPr id="14" name="Picture 13">
            <a:extLst>
              <a:ext uri="{FF2B5EF4-FFF2-40B4-BE49-F238E27FC236}">
                <a16:creationId xmlns:a16="http://schemas.microsoft.com/office/drawing/2014/main" id="{093D4874-DF50-CD88-54B9-4F5739702593}"/>
              </a:ext>
            </a:extLst>
          </p:cNvPr>
          <p:cNvPicPr>
            <a:picLocks noChangeAspect="1"/>
          </p:cNvPicPr>
          <p:nvPr/>
        </p:nvPicPr>
        <p:blipFill>
          <a:blip r:embed="rId7"/>
          <a:stretch>
            <a:fillRect/>
          </a:stretch>
        </p:blipFill>
        <p:spPr>
          <a:xfrm>
            <a:off x="7148082" y="1381002"/>
            <a:ext cx="4716292" cy="4891653"/>
          </a:xfrm>
          <a:prstGeom prst="roundRect">
            <a:avLst>
              <a:gd name="adj" fmla="val 5810"/>
            </a:avLst>
          </a:prstGeom>
          <a:effectLst/>
        </p:spPr>
      </p:pic>
      <p:sp>
        <p:nvSpPr>
          <p:cNvPr id="2" name="Slide Number Placeholder 1">
            <a:extLst>
              <a:ext uri="{FF2B5EF4-FFF2-40B4-BE49-F238E27FC236}">
                <a16:creationId xmlns:a16="http://schemas.microsoft.com/office/drawing/2014/main" id="{AD8960E0-3636-03E7-A751-C3FD193A5137}"/>
              </a:ext>
            </a:extLst>
          </p:cNvPr>
          <p:cNvSpPr>
            <a:spLocks noGrp="1"/>
          </p:cNvSpPr>
          <p:nvPr>
            <p:ph type="sldNum" sz="quarter" idx="12"/>
          </p:nvPr>
        </p:nvSpPr>
        <p:spPr/>
        <p:txBody>
          <a:bodyPr/>
          <a:lstStyle/>
          <a:p>
            <a:fld id="{31FF4958-03C2-D046-B93E-A6943D85A75D}" type="slidenum">
              <a:rPr lang="en-US" smtClean="0"/>
              <a:t>11</a:t>
            </a:fld>
            <a:endParaRPr lang="en-US"/>
          </a:p>
        </p:txBody>
      </p:sp>
      <p:grpSp>
        <p:nvGrpSpPr>
          <p:cNvPr id="5" name="Group 4">
            <a:extLst>
              <a:ext uri="{FF2B5EF4-FFF2-40B4-BE49-F238E27FC236}">
                <a16:creationId xmlns:a16="http://schemas.microsoft.com/office/drawing/2014/main" id="{F1E37B7B-9FC6-AE1D-E12C-16EFDECB212B}"/>
              </a:ext>
            </a:extLst>
          </p:cNvPr>
          <p:cNvGrpSpPr/>
          <p:nvPr/>
        </p:nvGrpSpPr>
        <p:grpSpPr>
          <a:xfrm>
            <a:off x="1279814" y="3811504"/>
            <a:ext cx="1411733" cy="366048"/>
            <a:chOff x="1279814" y="3811504"/>
            <a:chExt cx="1411733" cy="366048"/>
          </a:xfrm>
        </p:grpSpPr>
        <p:sp>
          <p:nvSpPr>
            <p:cNvPr id="3" name="Oval 2">
              <a:extLst>
                <a:ext uri="{FF2B5EF4-FFF2-40B4-BE49-F238E27FC236}">
                  <a16:creationId xmlns:a16="http://schemas.microsoft.com/office/drawing/2014/main" id="{997F2FE4-58D7-5BB8-D1DF-4A8EA9AA2F90}"/>
                </a:ext>
              </a:extLst>
            </p:cNvPr>
            <p:cNvSpPr/>
            <p:nvPr/>
          </p:nvSpPr>
          <p:spPr>
            <a:xfrm>
              <a:off x="1927411" y="4061011"/>
              <a:ext cx="116541" cy="116541"/>
            </a:xfrm>
            <a:prstGeom prst="ellipse">
              <a:avLst/>
            </a:prstGeom>
            <a:solidFill>
              <a:srgbClr val="E79F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FF8E8D1-65EA-946B-49B5-3D3A95FD37AA}"/>
                </a:ext>
              </a:extLst>
            </p:cNvPr>
            <p:cNvSpPr txBox="1"/>
            <p:nvPr/>
          </p:nvSpPr>
          <p:spPr>
            <a:xfrm>
              <a:off x="1279814" y="3811504"/>
              <a:ext cx="1411733" cy="307777"/>
            </a:xfrm>
            <a:prstGeom prst="rect">
              <a:avLst/>
            </a:prstGeom>
            <a:noFill/>
          </p:spPr>
          <p:txBody>
            <a:bodyPr wrap="none" rtlCol="0">
              <a:spAutoFit/>
            </a:bodyPr>
            <a:lstStyle/>
            <a:p>
              <a:r>
                <a:rPr lang="en-US" sz="1400" dirty="0">
                  <a:solidFill>
                    <a:srgbClr val="E79F01"/>
                  </a:solidFill>
                </a:rPr>
                <a:t>sample size </a:t>
              </a:r>
              <a:r>
                <a:rPr lang="en-AU" sz="1400" dirty="0">
                  <a:solidFill>
                    <a:srgbClr val="E79F01"/>
                  </a:solidFill>
                </a:rPr>
                <a:t>≈ 50</a:t>
              </a:r>
              <a:r>
                <a:rPr lang="en-US" sz="1400" dirty="0">
                  <a:solidFill>
                    <a:srgbClr val="E79F01"/>
                  </a:solidFill>
                </a:rPr>
                <a:t> </a:t>
              </a:r>
            </a:p>
          </p:txBody>
        </p:sp>
      </p:grpSp>
    </p:spTree>
    <p:extLst>
      <p:ext uri="{BB962C8B-B14F-4D97-AF65-F5344CB8AC3E}">
        <p14:creationId xmlns:p14="http://schemas.microsoft.com/office/powerpoint/2010/main" val="423715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AB1EBE5-44F2-39EB-A65A-2B62F237B810}"/>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9994523-27E0-2490-5DCF-3E8C02B989FB}"/>
              </a:ext>
            </a:extLst>
          </p:cNvPr>
          <p:cNvSpPr/>
          <p:nvPr/>
        </p:nvSpPr>
        <p:spPr>
          <a:xfrm>
            <a:off x="171511" y="1787944"/>
            <a:ext cx="6558996" cy="1161444"/>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Marginal Effects</a:t>
            </a:r>
          </a:p>
        </p:txBody>
      </p:sp>
      <p:pic>
        <p:nvPicPr>
          <p:cNvPr id="3" name="Picture 2">
            <a:extLst>
              <a:ext uri="{FF2B5EF4-FFF2-40B4-BE49-F238E27FC236}">
                <a16:creationId xmlns:a16="http://schemas.microsoft.com/office/drawing/2014/main" id="{BFB27F54-3DBA-5390-7792-E5FFA00BC962}"/>
              </a:ext>
            </a:extLst>
          </p:cNvPr>
          <p:cNvPicPr>
            <a:picLocks noChangeAspect="1"/>
          </p:cNvPicPr>
          <p:nvPr/>
        </p:nvPicPr>
        <p:blipFill>
          <a:blip r:embed="rId3"/>
          <a:stretch>
            <a:fillRect/>
          </a:stretch>
        </p:blipFill>
        <p:spPr>
          <a:xfrm>
            <a:off x="159489" y="2235903"/>
            <a:ext cx="6583040" cy="4462609"/>
          </a:xfrm>
          <a:prstGeom prst="roundRect">
            <a:avLst>
              <a:gd name="adj" fmla="val 9366"/>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DCAE6F83-03B7-376B-F414-038E3C56ED2A}"/>
              </a:ext>
            </a:extLst>
          </p:cNvPr>
          <p:cNvPicPr>
            <a:picLocks noChangeAspect="1"/>
          </p:cNvPicPr>
          <p:nvPr/>
        </p:nvPicPr>
        <p:blipFill>
          <a:blip r:embed="rId4"/>
          <a:stretch>
            <a:fillRect/>
          </a:stretch>
        </p:blipFill>
        <p:spPr>
          <a:xfrm>
            <a:off x="2394380" y="954593"/>
            <a:ext cx="3622373" cy="2455551"/>
          </a:xfrm>
          <a:prstGeom prst="roundRect">
            <a:avLst>
              <a:gd name="adj" fmla="val 10934"/>
            </a:avLst>
          </a:prstGeom>
          <a:effectLst>
            <a:outerShdw blurRad="50800" dist="38100" dir="5400000" algn="t" rotWithShape="0">
              <a:prstClr val="black">
                <a:alpha val="40000"/>
              </a:prstClr>
            </a:outerShdw>
          </a:effectLst>
        </p:spPr>
      </p:pic>
      <p:sp>
        <p:nvSpPr>
          <p:cNvPr id="5" name="Rectangle 4">
            <a:extLst>
              <a:ext uri="{FF2B5EF4-FFF2-40B4-BE49-F238E27FC236}">
                <a16:creationId xmlns:a16="http://schemas.microsoft.com/office/drawing/2014/main" id="{43C92243-5F79-A202-5B31-133D1A90900B}"/>
              </a:ext>
            </a:extLst>
          </p:cNvPr>
          <p:cNvSpPr/>
          <p:nvPr/>
        </p:nvSpPr>
        <p:spPr>
          <a:xfrm>
            <a:off x="0" y="9733"/>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RESULTS: Replication rate</a:t>
            </a:r>
          </a:p>
        </p:txBody>
      </p:sp>
      <p:grpSp>
        <p:nvGrpSpPr>
          <p:cNvPr id="9" name="Group 8">
            <a:extLst>
              <a:ext uri="{FF2B5EF4-FFF2-40B4-BE49-F238E27FC236}">
                <a16:creationId xmlns:a16="http://schemas.microsoft.com/office/drawing/2014/main" id="{6C8B16B0-4FCB-F71D-BD5B-DCBA6BED53B6}"/>
              </a:ext>
            </a:extLst>
          </p:cNvPr>
          <p:cNvGrpSpPr/>
          <p:nvPr/>
        </p:nvGrpSpPr>
        <p:grpSpPr>
          <a:xfrm>
            <a:off x="7148081" y="954593"/>
            <a:ext cx="4716293" cy="5318063"/>
            <a:chOff x="7148081" y="954593"/>
            <a:chExt cx="4716293" cy="5318063"/>
          </a:xfrm>
        </p:grpSpPr>
        <p:sp>
          <p:nvSpPr>
            <p:cNvPr id="6" name="Rounded Rectangle 5">
              <a:extLst>
                <a:ext uri="{FF2B5EF4-FFF2-40B4-BE49-F238E27FC236}">
                  <a16:creationId xmlns:a16="http://schemas.microsoft.com/office/drawing/2014/main" id="{6F76E59A-0CF8-AC8C-99BF-B3D7C034419A}"/>
                </a:ext>
              </a:extLst>
            </p:cNvPr>
            <p:cNvSpPr/>
            <p:nvPr/>
          </p:nvSpPr>
          <p:spPr>
            <a:xfrm>
              <a:off x="7148081" y="954593"/>
              <a:ext cx="4716293" cy="954592"/>
            </a:xfrm>
            <a:prstGeom prst="roundRect">
              <a:avLst>
                <a:gd name="adj" fmla="val 27964"/>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dirty="0">
                  <a:solidFill>
                    <a:schemeClr val="tx1"/>
                  </a:solidFill>
                </a:rPr>
                <a:t>Effects broken down by scenario</a:t>
              </a:r>
            </a:p>
          </p:txBody>
        </p:sp>
        <p:pic>
          <p:nvPicPr>
            <p:cNvPr id="13" name="Picture 12">
              <a:extLst>
                <a:ext uri="{FF2B5EF4-FFF2-40B4-BE49-F238E27FC236}">
                  <a16:creationId xmlns:a16="http://schemas.microsoft.com/office/drawing/2014/main" id="{DC022F90-F880-FF5A-C2B1-C79BB56864B7}"/>
                </a:ext>
              </a:extLst>
            </p:cNvPr>
            <p:cNvPicPr>
              <a:picLocks noChangeAspect="1"/>
            </p:cNvPicPr>
            <p:nvPr/>
          </p:nvPicPr>
          <p:blipFill>
            <a:blip r:embed="rId5"/>
            <a:stretch>
              <a:fillRect/>
            </a:stretch>
          </p:blipFill>
          <p:spPr>
            <a:xfrm>
              <a:off x="7148081" y="1381002"/>
              <a:ext cx="4716293" cy="4891654"/>
            </a:xfrm>
            <a:prstGeom prst="roundRect">
              <a:avLst>
                <a:gd name="adj" fmla="val 7030"/>
              </a:avLst>
            </a:prstGeom>
            <a:effectLst>
              <a:outerShdw blurRad="50800" dist="38100" dir="5400000" algn="t" rotWithShape="0">
                <a:prstClr val="black">
                  <a:alpha val="40000"/>
                </a:prstClr>
              </a:outerShdw>
            </a:effectLst>
          </p:spPr>
        </p:pic>
      </p:grpSp>
      <p:pic>
        <p:nvPicPr>
          <p:cNvPr id="14" name="Picture 13">
            <a:extLst>
              <a:ext uri="{FF2B5EF4-FFF2-40B4-BE49-F238E27FC236}">
                <a16:creationId xmlns:a16="http://schemas.microsoft.com/office/drawing/2014/main" id="{8B65690A-DE35-CFA0-83BA-D8B44E719616}"/>
              </a:ext>
            </a:extLst>
          </p:cNvPr>
          <p:cNvPicPr>
            <a:picLocks noChangeAspect="1"/>
          </p:cNvPicPr>
          <p:nvPr/>
        </p:nvPicPr>
        <p:blipFill>
          <a:blip r:embed="rId6"/>
          <a:stretch>
            <a:fillRect/>
          </a:stretch>
        </p:blipFill>
        <p:spPr>
          <a:xfrm>
            <a:off x="7148080" y="1381001"/>
            <a:ext cx="4716293" cy="4891655"/>
          </a:xfrm>
          <a:prstGeom prst="roundRect">
            <a:avLst>
              <a:gd name="adj" fmla="val 6816"/>
            </a:avLst>
          </a:prstGeom>
          <a:effectLst/>
        </p:spPr>
      </p:pic>
      <p:pic>
        <p:nvPicPr>
          <p:cNvPr id="15" name="Picture 14">
            <a:extLst>
              <a:ext uri="{FF2B5EF4-FFF2-40B4-BE49-F238E27FC236}">
                <a16:creationId xmlns:a16="http://schemas.microsoft.com/office/drawing/2014/main" id="{4DA00473-AAC9-A12A-E655-18807D4E3CF0}"/>
              </a:ext>
            </a:extLst>
          </p:cNvPr>
          <p:cNvPicPr>
            <a:picLocks noChangeAspect="1"/>
          </p:cNvPicPr>
          <p:nvPr/>
        </p:nvPicPr>
        <p:blipFill>
          <a:blip r:embed="rId7"/>
          <a:stretch>
            <a:fillRect/>
          </a:stretch>
        </p:blipFill>
        <p:spPr>
          <a:xfrm>
            <a:off x="7148079" y="1381000"/>
            <a:ext cx="4716293" cy="4891655"/>
          </a:xfrm>
          <a:prstGeom prst="roundRect">
            <a:avLst>
              <a:gd name="adj" fmla="val 6816"/>
            </a:avLst>
          </a:prstGeom>
        </p:spPr>
      </p:pic>
      <p:sp>
        <p:nvSpPr>
          <p:cNvPr id="2" name="Slide Number Placeholder 1">
            <a:extLst>
              <a:ext uri="{FF2B5EF4-FFF2-40B4-BE49-F238E27FC236}">
                <a16:creationId xmlns:a16="http://schemas.microsoft.com/office/drawing/2014/main" id="{3CC30288-0236-84EC-4C1B-14ABF07734E1}"/>
              </a:ext>
            </a:extLst>
          </p:cNvPr>
          <p:cNvSpPr>
            <a:spLocks noGrp="1"/>
          </p:cNvSpPr>
          <p:nvPr>
            <p:ph type="sldNum" sz="quarter" idx="12"/>
          </p:nvPr>
        </p:nvSpPr>
        <p:spPr>
          <a:xfrm>
            <a:off x="9370995" y="121904"/>
            <a:ext cx="2743200" cy="365125"/>
          </a:xfrm>
        </p:spPr>
        <p:txBody>
          <a:bodyPr/>
          <a:lstStyle/>
          <a:p>
            <a:fld id="{31FF4958-03C2-D046-B93E-A6943D85A75D}" type="slidenum">
              <a:rPr lang="en-US" smtClean="0"/>
              <a:t>12</a:t>
            </a:fld>
            <a:endParaRPr lang="en-US"/>
          </a:p>
        </p:txBody>
      </p:sp>
    </p:spTree>
    <p:extLst>
      <p:ext uri="{BB962C8B-B14F-4D97-AF65-F5344CB8AC3E}">
        <p14:creationId xmlns:p14="http://schemas.microsoft.com/office/powerpoint/2010/main" val="155540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05EC3EDC-E489-8B97-CD14-DA595DC1C276}"/>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87A31DB-3CF9-45BF-09EF-8E6EE74C97A3}"/>
              </a:ext>
            </a:extLst>
          </p:cNvPr>
          <p:cNvSpPr/>
          <p:nvPr/>
        </p:nvSpPr>
        <p:spPr>
          <a:xfrm>
            <a:off x="207627" y="954593"/>
            <a:ext cx="11776746" cy="5813760"/>
          </a:xfrm>
          <a:prstGeom prst="roundRect">
            <a:avLst>
              <a:gd name="adj" fmla="val 5292"/>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rgbClr val="E79F00"/>
                </a:solidFill>
              </a:rPr>
              <a:t>Sample size = 30 per group</a:t>
            </a:r>
          </a:p>
          <a:p>
            <a:pPr algn="ctr"/>
            <a:r>
              <a:rPr lang="en-US" b="1" dirty="0">
                <a:solidFill>
                  <a:srgbClr val="55B3E8"/>
                </a:solidFill>
              </a:rPr>
              <a:t>Publication bias = 2 (medium/strong)</a:t>
            </a:r>
          </a:p>
          <a:p>
            <a:pPr algn="ctr"/>
            <a:r>
              <a:rPr lang="en-US" b="1" dirty="0">
                <a:solidFill>
                  <a:srgbClr val="009F73"/>
                </a:solidFill>
              </a:rPr>
              <a:t>Base null probability = 0.9</a:t>
            </a:r>
          </a:p>
          <a:p>
            <a:pPr algn="ctr"/>
            <a:r>
              <a:rPr lang="en-US" b="1" dirty="0">
                <a:solidFill>
                  <a:schemeClr val="tx1"/>
                </a:solidFill>
              </a:rPr>
              <a:t>Burn-in period = 100 timesteps (only original studies)</a:t>
            </a:r>
          </a:p>
          <a:p>
            <a:endParaRPr lang="en-US" dirty="0"/>
          </a:p>
        </p:txBody>
      </p:sp>
      <p:sp>
        <p:nvSpPr>
          <p:cNvPr id="3" name="Rectangle 2">
            <a:extLst>
              <a:ext uri="{FF2B5EF4-FFF2-40B4-BE49-F238E27FC236}">
                <a16:creationId xmlns:a16="http://schemas.microsoft.com/office/drawing/2014/main" id="{449E0DE0-63AF-FCC0-7CC8-739710D82E89}"/>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Corrective Condition </a:t>
            </a:r>
          </a:p>
        </p:txBody>
      </p:sp>
      <p:sp>
        <p:nvSpPr>
          <p:cNvPr id="2" name="Slide Number Placeholder 1">
            <a:extLst>
              <a:ext uri="{FF2B5EF4-FFF2-40B4-BE49-F238E27FC236}">
                <a16:creationId xmlns:a16="http://schemas.microsoft.com/office/drawing/2014/main" id="{C559E7E7-9A1B-4C78-22CF-8D16D9538C9B}"/>
              </a:ext>
            </a:extLst>
          </p:cNvPr>
          <p:cNvSpPr>
            <a:spLocks noGrp="1"/>
          </p:cNvSpPr>
          <p:nvPr>
            <p:ph type="sldNum" sz="quarter" idx="12"/>
          </p:nvPr>
        </p:nvSpPr>
        <p:spPr/>
        <p:txBody>
          <a:bodyPr/>
          <a:lstStyle/>
          <a:p>
            <a:fld id="{31FF4958-03C2-D046-B93E-A6943D85A75D}" type="slidenum">
              <a:rPr lang="en-US" smtClean="0"/>
              <a:t>13</a:t>
            </a:fld>
            <a:endParaRPr lang="en-US"/>
          </a:p>
        </p:txBody>
      </p:sp>
      <p:grpSp>
        <p:nvGrpSpPr>
          <p:cNvPr id="13" name="Group 12">
            <a:extLst>
              <a:ext uri="{FF2B5EF4-FFF2-40B4-BE49-F238E27FC236}">
                <a16:creationId xmlns:a16="http://schemas.microsoft.com/office/drawing/2014/main" id="{665CEC71-EA54-BD51-477B-D2C290F20DD4}"/>
              </a:ext>
            </a:extLst>
          </p:cNvPr>
          <p:cNvGrpSpPr/>
          <p:nvPr/>
        </p:nvGrpSpPr>
        <p:grpSpPr>
          <a:xfrm>
            <a:off x="437388" y="2877671"/>
            <a:ext cx="5509532" cy="2955987"/>
            <a:chOff x="437388" y="2877671"/>
            <a:chExt cx="5509532" cy="2955987"/>
          </a:xfrm>
        </p:grpSpPr>
        <p:grpSp>
          <p:nvGrpSpPr>
            <p:cNvPr id="9" name="Group 8">
              <a:extLst>
                <a:ext uri="{FF2B5EF4-FFF2-40B4-BE49-F238E27FC236}">
                  <a16:creationId xmlns:a16="http://schemas.microsoft.com/office/drawing/2014/main" id="{ECFE956D-3BA2-D46D-5222-15CA53E3EE71}"/>
                </a:ext>
              </a:extLst>
            </p:cNvPr>
            <p:cNvGrpSpPr/>
            <p:nvPr/>
          </p:nvGrpSpPr>
          <p:grpSpPr>
            <a:xfrm>
              <a:off x="437388" y="3156852"/>
              <a:ext cx="5509532" cy="2676806"/>
              <a:chOff x="165127" y="3226601"/>
              <a:chExt cx="5509532" cy="2676806"/>
            </a:xfrm>
          </p:grpSpPr>
          <p:pic>
            <p:nvPicPr>
              <p:cNvPr id="5" name="Picture 4">
                <a:extLst>
                  <a:ext uri="{FF2B5EF4-FFF2-40B4-BE49-F238E27FC236}">
                    <a16:creationId xmlns:a16="http://schemas.microsoft.com/office/drawing/2014/main" id="{91672F01-80AE-4BC0-3835-A0E9B75E0C85}"/>
                  </a:ext>
                </a:extLst>
              </p:cNvPr>
              <p:cNvPicPr>
                <a:picLocks noChangeAspect="1"/>
              </p:cNvPicPr>
              <p:nvPr/>
            </p:nvPicPr>
            <p:blipFill>
              <a:blip r:embed="rId3"/>
              <a:srcRect l="4360" t="9534" r="49235" b="50551"/>
              <a:stretch>
                <a:fillRect/>
              </a:stretch>
            </p:blipFill>
            <p:spPr>
              <a:xfrm>
                <a:off x="487857" y="3226601"/>
                <a:ext cx="5186802" cy="2676806"/>
              </a:xfrm>
              <a:prstGeom prst="rect">
                <a:avLst/>
              </a:prstGeom>
            </p:spPr>
          </p:pic>
          <p:sp>
            <p:nvSpPr>
              <p:cNvPr id="8" name="Rectangle 7">
                <a:extLst>
                  <a:ext uri="{FF2B5EF4-FFF2-40B4-BE49-F238E27FC236}">
                    <a16:creationId xmlns:a16="http://schemas.microsoft.com/office/drawing/2014/main" id="{39056A75-22C7-6DA2-DDD9-B2FF164880C5}"/>
                  </a:ext>
                </a:extLst>
              </p:cNvPr>
              <p:cNvSpPr/>
              <p:nvPr/>
            </p:nvSpPr>
            <p:spPr>
              <a:xfrm rot="16200000">
                <a:off x="-1011911" y="4403639"/>
                <a:ext cx="2676806" cy="3227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j-lt"/>
                  </a:rPr>
                  <a:t>% replicator agents</a:t>
                </a:r>
              </a:p>
            </p:txBody>
          </p:sp>
        </p:grpSp>
        <p:sp>
          <p:nvSpPr>
            <p:cNvPr id="12" name="Rectangle 11">
              <a:extLst>
                <a:ext uri="{FF2B5EF4-FFF2-40B4-BE49-F238E27FC236}">
                  <a16:creationId xmlns:a16="http://schemas.microsoft.com/office/drawing/2014/main" id="{BAA4AEBE-3874-0FF5-67CB-2CC9127C5CF4}"/>
                </a:ext>
              </a:extLst>
            </p:cNvPr>
            <p:cNvSpPr/>
            <p:nvPr/>
          </p:nvSpPr>
          <p:spPr>
            <a:xfrm>
              <a:off x="437388" y="2877671"/>
              <a:ext cx="5509532" cy="27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mj-lt"/>
                </a:rPr>
                <a:t>Evolution of replicators</a:t>
              </a:r>
            </a:p>
          </p:txBody>
        </p:sp>
      </p:grpSp>
      <p:grpSp>
        <p:nvGrpSpPr>
          <p:cNvPr id="15" name="Group 14">
            <a:extLst>
              <a:ext uri="{FF2B5EF4-FFF2-40B4-BE49-F238E27FC236}">
                <a16:creationId xmlns:a16="http://schemas.microsoft.com/office/drawing/2014/main" id="{9405F2F1-5D2E-2FAD-8967-93C04DA3A3A6}"/>
              </a:ext>
            </a:extLst>
          </p:cNvPr>
          <p:cNvGrpSpPr/>
          <p:nvPr/>
        </p:nvGrpSpPr>
        <p:grpSpPr>
          <a:xfrm>
            <a:off x="6245079" y="2877671"/>
            <a:ext cx="5509533" cy="2955987"/>
            <a:chOff x="6245079" y="2877671"/>
            <a:chExt cx="5509533" cy="2955987"/>
          </a:xfrm>
        </p:grpSpPr>
        <p:grpSp>
          <p:nvGrpSpPr>
            <p:cNvPr id="11" name="Group 10">
              <a:extLst>
                <a:ext uri="{FF2B5EF4-FFF2-40B4-BE49-F238E27FC236}">
                  <a16:creationId xmlns:a16="http://schemas.microsoft.com/office/drawing/2014/main" id="{688D3517-246E-6DD5-605A-883C7B6660DF}"/>
                </a:ext>
              </a:extLst>
            </p:cNvPr>
            <p:cNvGrpSpPr/>
            <p:nvPr/>
          </p:nvGrpSpPr>
          <p:grpSpPr>
            <a:xfrm>
              <a:off x="6245080" y="3156852"/>
              <a:ext cx="5509532" cy="2676806"/>
              <a:chOff x="6119134" y="3156852"/>
              <a:chExt cx="5509532" cy="2676806"/>
            </a:xfrm>
          </p:grpSpPr>
          <p:pic>
            <p:nvPicPr>
              <p:cNvPr id="6" name="Picture 5">
                <a:extLst>
                  <a:ext uri="{FF2B5EF4-FFF2-40B4-BE49-F238E27FC236}">
                    <a16:creationId xmlns:a16="http://schemas.microsoft.com/office/drawing/2014/main" id="{AA164E30-7A59-9671-7C21-A4829CAC264A}"/>
                  </a:ext>
                </a:extLst>
              </p:cNvPr>
              <p:cNvPicPr>
                <a:picLocks noChangeAspect="1"/>
              </p:cNvPicPr>
              <p:nvPr/>
            </p:nvPicPr>
            <p:blipFill>
              <a:blip r:embed="rId3"/>
              <a:srcRect l="4680" t="58004" r="48913" b="2082"/>
              <a:stretch>
                <a:fillRect/>
              </a:stretch>
            </p:blipFill>
            <p:spPr>
              <a:xfrm>
                <a:off x="6441864" y="3156852"/>
                <a:ext cx="5186802" cy="2676806"/>
              </a:xfrm>
              <a:prstGeom prst="rect">
                <a:avLst/>
              </a:prstGeom>
            </p:spPr>
          </p:pic>
          <p:sp>
            <p:nvSpPr>
              <p:cNvPr id="10" name="Rectangle 9">
                <a:extLst>
                  <a:ext uri="{FF2B5EF4-FFF2-40B4-BE49-F238E27FC236}">
                    <a16:creationId xmlns:a16="http://schemas.microsoft.com/office/drawing/2014/main" id="{4A0DB5D7-028A-78C7-A978-2F791737FAAB}"/>
                  </a:ext>
                </a:extLst>
              </p:cNvPr>
              <p:cNvSpPr/>
              <p:nvPr/>
            </p:nvSpPr>
            <p:spPr>
              <a:xfrm rot="16200000">
                <a:off x="4942096" y="4333890"/>
                <a:ext cx="2676806" cy="3227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j-lt"/>
                  </a:rPr>
                  <a:t>Cumulative truth contribution (KL)</a:t>
                </a:r>
              </a:p>
            </p:txBody>
          </p:sp>
        </p:grpSp>
        <p:sp>
          <p:nvSpPr>
            <p:cNvPr id="14" name="Rectangle 13">
              <a:extLst>
                <a:ext uri="{FF2B5EF4-FFF2-40B4-BE49-F238E27FC236}">
                  <a16:creationId xmlns:a16="http://schemas.microsoft.com/office/drawing/2014/main" id="{AAE20A70-59F7-70AC-EA59-B0C96A6C5F86}"/>
                </a:ext>
              </a:extLst>
            </p:cNvPr>
            <p:cNvSpPr/>
            <p:nvPr/>
          </p:nvSpPr>
          <p:spPr>
            <a:xfrm>
              <a:off x="6245079" y="2877671"/>
              <a:ext cx="5509532" cy="27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mj-lt"/>
                </a:rPr>
                <a:t>Scientific progress</a:t>
              </a:r>
            </a:p>
          </p:txBody>
        </p:sp>
      </p:grpSp>
    </p:spTree>
    <p:extLst>
      <p:ext uri="{BB962C8B-B14F-4D97-AF65-F5344CB8AC3E}">
        <p14:creationId xmlns:p14="http://schemas.microsoft.com/office/powerpoint/2010/main" val="3505424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A3A629B-4041-1906-90F2-CFCE141819C4}"/>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A79284F4-8943-A65F-F9C0-76EB957E3D0F}"/>
              </a:ext>
            </a:extLst>
          </p:cNvPr>
          <p:cNvSpPr/>
          <p:nvPr/>
        </p:nvSpPr>
        <p:spPr>
          <a:xfrm>
            <a:off x="207627" y="954593"/>
            <a:ext cx="7784229" cy="5491927"/>
          </a:xfrm>
          <a:prstGeom prst="roundRect">
            <a:avLst>
              <a:gd name="adj" fmla="val 9133"/>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3230FC7-3B9E-A971-CD9A-FB7D5C07E968}"/>
              </a:ext>
            </a:extLst>
          </p:cNvPr>
          <p:cNvSpPr/>
          <p:nvPr/>
        </p:nvSpPr>
        <p:spPr>
          <a:xfrm>
            <a:off x="0" y="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ysClr val="windowText" lastClr="000000"/>
                </a:solidFill>
                <a:latin typeface="Britannic Bold" panose="020B0903060703020204" pitchFamily="34" charset="77"/>
              </a:rPr>
              <a:t>TAKEAWAYS</a:t>
            </a:r>
          </a:p>
        </p:txBody>
      </p:sp>
      <p:sp>
        <p:nvSpPr>
          <p:cNvPr id="9" name="Content Placeholder 2">
            <a:extLst>
              <a:ext uri="{FF2B5EF4-FFF2-40B4-BE49-F238E27FC236}">
                <a16:creationId xmlns:a16="http://schemas.microsoft.com/office/drawing/2014/main" id="{B66971A2-D5F8-81C4-DE49-342EAE5FE803}"/>
              </a:ext>
            </a:extLst>
          </p:cNvPr>
          <p:cNvSpPr txBox="1">
            <a:spLocks/>
          </p:cNvSpPr>
          <p:nvPr/>
        </p:nvSpPr>
        <p:spPr>
          <a:xfrm>
            <a:off x="207627" y="1024089"/>
            <a:ext cx="7784229" cy="5422431"/>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400" b="1" dirty="0"/>
              <a:t>How much replication do we need?</a:t>
            </a:r>
          </a:p>
          <a:p>
            <a:r>
              <a:rPr lang="en-AU" sz="2400" dirty="0"/>
              <a:t>Around 20-40% under medium-high publication bias (which probably describes the current situation in many fields)</a:t>
            </a:r>
          </a:p>
          <a:p>
            <a:endParaRPr lang="en-AU" sz="2400" b="1" dirty="0"/>
          </a:p>
          <a:p>
            <a:pPr marL="0" indent="0">
              <a:buNone/>
            </a:pPr>
            <a:r>
              <a:rPr lang="en-AU" sz="2400" b="1" dirty="0"/>
              <a:t>Caveats</a:t>
            </a:r>
          </a:p>
          <a:p>
            <a:r>
              <a:rPr lang="en-AU" sz="2400" dirty="0"/>
              <a:t>It depends on your definition of scientific progress </a:t>
            </a:r>
          </a:p>
          <a:p>
            <a:pPr lvl="1"/>
            <a:r>
              <a:rPr lang="en-AU" sz="2000" dirty="0"/>
              <a:t>Depth vs breadth of literature</a:t>
            </a:r>
          </a:p>
          <a:p>
            <a:r>
              <a:rPr lang="en-AU" sz="2400" dirty="0"/>
              <a:t>It depends on the sources of error present</a:t>
            </a:r>
          </a:p>
          <a:p>
            <a:r>
              <a:rPr lang="en-AU" sz="2400" dirty="0"/>
              <a:t>It depends on the context</a:t>
            </a:r>
          </a:p>
          <a:p>
            <a:pPr lvl="1"/>
            <a:r>
              <a:rPr lang="en-AU" sz="2000" dirty="0"/>
              <a:t>Without publication bias, replications wouldn’t be needed</a:t>
            </a:r>
          </a:p>
          <a:p>
            <a:pPr lvl="1"/>
            <a:r>
              <a:rPr lang="en-AU" sz="2000" dirty="0"/>
              <a:t>Best scientific progress: no publication bias, no replications, modest sample sizes</a:t>
            </a:r>
          </a:p>
          <a:p>
            <a:pPr lvl="1"/>
            <a:r>
              <a:rPr lang="en-AU" sz="2000" dirty="0"/>
              <a:t>Maybe we need replication as a corrective crutch, but not forever</a:t>
            </a:r>
          </a:p>
        </p:txBody>
      </p:sp>
      <p:pic>
        <p:nvPicPr>
          <p:cNvPr id="2" name="Picture 1">
            <a:extLst>
              <a:ext uri="{FF2B5EF4-FFF2-40B4-BE49-F238E27FC236}">
                <a16:creationId xmlns:a16="http://schemas.microsoft.com/office/drawing/2014/main" id="{9C728EC5-3D0B-A7BF-18B9-A90DDC32D8F1}"/>
              </a:ext>
            </a:extLst>
          </p:cNvPr>
          <p:cNvPicPr>
            <a:picLocks noChangeAspect="1"/>
          </p:cNvPicPr>
          <p:nvPr/>
        </p:nvPicPr>
        <p:blipFill>
          <a:blip r:embed="rId3"/>
          <a:stretch>
            <a:fillRect/>
          </a:stretch>
        </p:blipFill>
        <p:spPr>
          <a:xfrm>
            <a:off x="8199483" y="1790352"/>
            <a:ext cx="3790532" cy="3277296"/>
          </a:xfrm>
          <a:prstGeom prst="roundRect">
            <a:avLst>
              <a:gd name="adj" fmla="val 6823"/>
            </a:avLst>
          </a:prstGeom>
          <a:effectLst>
            <a:outerShdw blurRad="50800" dist="38100" dir="5400000" algn="t" rotWithShape="0">
              <a:prstClr val="black">
                <a:alpha val="40000"/>
              </a:prstClr>
            </a:outerShdw>
          </a:effectLst>
        </p:spPr>
      </p:pic>
      <p:sp>
        <p:nvSpPr>
          <p:cNvPr id="5" name="Slide Number Placeholder 4">
            <a:extLst>
              <a:ext uri="{FF2B5EF4-FFF2-40B4-BE49-F238E27FC236}">
                <a16:creationId xmlns:a16="http://schemas.microsoft.com/office/drawing/2014/main" id="{68D40FBB-61C0-CE93-E3F2-B18945C344CC}"/>
              </a:ext>
            </a:extLst>
          </p:cNvPr>
          <p:cNvSpPr>
            <a:spLocks noGrp="1"/>
          </p:cNvSpPr>
          <p:nvPr>
            <p:ph type="sldNum" sz="quarter" idx="12"/>
          </p:nvPr>
        </p:nvSpPr>
        <p:spPr/>
        <p:txBody>
          <a:bodyPr/>
          <a:lstStyle/>
          <a:p>
            <a:fld id="{31FF4958-03C2-D046-B93E-A6943D85A75D}" type="slidenum">
              <a:rPr lang="en-US" smtClean="0"/>
              <a:t>14</a:t>
            </a:fld>
            <a:endParaRPr lang="en-US"/>
          </a:p>
        </p:txBody>
      </p:sp>
    </p:spTree>
    <p:extLst>
      <p:ext uri="{BB962C8B-B14F-4D97-AF65-F5344CB8AC3E}">
        <p14:creationId xmlns:p14="http://schemas.microsoft.com/office/powerpoint/2010/main" val="92372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D3A4EA8-910B-894D-7A3B-7C836E071E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B92D9A8-21AF-F6E1-1256-C3644D795BBF}"/>
              </a:ext>
            </a:extLst>
          </p:cNvPr>
          <p:cNvSpPr/>
          <p:nvPr/>
        </p:nvSpPr>
        <p:spPr>
          <a:xfrm>
            <a:off x="0" y="512810"/>
            <a:ext cx="12192000" cy="954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ysClr val="windowText" lastClr="000000"/>
                </a:solidFill>
                <a:latin typeface="Britannic Bold" panose="020B0903060703020204" pitchFamily="34" charset="77"/>
              </a:rPr>
              <a:t>THANK YOU</a:t>
            </a:r>
          </a:p>
        </p:txBody>
      </p:sp>
      <p:pic>
        <p:nvPicPr>
          <p:cNvPr id="2" name="Picture 1" descr="Felix Schönbrodt">
            <a:extLst>
              <a:ext uri="{FF2B5EF4-FFF2-40B4-BE49-F238E27FC236}">
                <a16:creationId xmlns:a16="http://schemas.microsoft.com/office/drawing/2014/main" id="{6288A8EE-D669-BD8B-47AB-3B42E1DB10B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rcRect l="359" t="8683" r="-359" b="10180"/>
          <a:stretch>
            <a:fillRect/>
          </a:stretch>
        </p:blipFill>
        <p:spPr>
          <a:xfrm>
            <a:off x="6648469" y="1885046"/>
            <a:ext cx="2740742" cy="2742630"/>
          </a:xfrm>
          <a:prstGeom prst="ellipse">
            <a:avLst/>
          </a:prstGeom>
        </p:spPr>
      </p:pic>
      <p:pic>
        <p:nvPicPr>
          <p:cNvPr id="5" name="Picture 4">
            <a:extLst>
              <a:ext uri="{FF2B5EF4-FFF2-40B4-BE49-F238E27FC236}">
                <a16:creationId xmlns:a16="http://schemas.microsoft.com/office/drawing/2014/main" id="{2C4DDFE1-47A2-FFB9-5972-11DDEC590444}"/>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colorTemperature colorTemp="8800"/>
                    </a14:imgEffect>
                  </a14:imgLayer>
                </a14:imgProps>
              </a:ext>
            </a:extLst>
          </a:blip>
          <a:stretch>
            <a:fillRect/>
          </a:stretch>
        </p:blipFill>
        <p:spPr>
          <a:xfrm>
            <a:off x="2884942" y="1885046"/>
            <a:ext cx="2742630" cy="2742630"/>
          </a:xfrm>
          <a:prstGeom prst="ellipse">
            <a:avLst/>
          </a:prstGeom>
        </p:spPr>
      </p:pic>
      <p:sp>
        <p:nvSpPr>
          <p:cNvPr id="8" name="TextBox 7">
            <a:extLst>
              <a:ext uri="{FF2B5EF4-FFF2-40B4-BE49-F238E27FC236}">
                <a16:creationId xmlns:a16="http://schemas.microsoft.com/office/drawing/2014/main" id="{DF00DCBE-BB94-00D3-7E19-D44088E349E8}"/>
              </a:ext>
            </a:extLst>
          </p:cNvPr>
          <p:cNvSpPr txBox="1"/>
          <p:nvPr/>
        </p:nvSpPr>
        <p:spPr>
          <a:xfrm>
            <a:off x="6564430" y="4732637"/>
            <a:ext cx="3157201" cy="646331"/>
          </a:xfrm>
          <a:prstGeom prst="rect">
            <a:avLst/>
          </a:prstGeom>
          <a:noFill/>
        </p:spPr>
        <p:txBody>
          <a:bodyPr wrap="square">
            <a:spAutoFit/>
          </a:bodyPr>
          <a:lstStyle/>
          <a:p>
            <a:pPr algn="ctr"/>
            <a:r>
              <a:rPr lang="en-US" dirty="0"/>
              <a:t>Felix </a:t>
            </a:r>
            <a:r>
              <a:rPr lang="en-US" dirty="0" err="1"/>
              <a:t>Schönbrodt</a:t>
            </a:r>
            <a:endParaRPr lang="en-US" dirty="0"/>
          </a:p>
          <a:p>
            <a:pPr algn="ctr"/>
            <a:r>
              <a:rPr lang="en-US" dirty="0" err="1">
                <a:solidFill>
                  <a:schemeClr val="bg2">
                    <a:lumMod val="75000"/>
                  </a:schemeClr>
                </a:solidFill>
              </a:rPr>
              <a:t>felix.Schoenbrodt@psy.lmu.de</a:t>
            </a:r>
            <a:endParaRPr lang="en-US" dirty="0"/>
          </a:p>
        </p:txBody>
      </p:sp>
      <p:sp>
        <p:nvSpPr>
          <p:cNvPr id="11" name="TextBox 10">
            <a:extLst>
              <a:ext uri="{FF2B5EF4-FFF2-40B4-BE49-F238E27FC236}">
                <a16:creationId xmlns:a16="http://schemas.microsoft.com/office/drawing/2014/main" id="{E0B03BA7-5656-48A3-6165-376C7E2ACD75}"/>
              </a:ext>
            </a:extLst>
          </p:cNvPr>
          <p:cNvSpPr txBox="1"/>
          <p:nvPr/>
        </p:nvSpPr>
        <p:spPr>
          <a:xfrm>
            <a:off x="2776218" y="4732637"/>
            <a:ext cx="2851354" cy="646331"/>
          </a:xfrm>
          <a:prstGeom prst="rect">
            <a:avLst/>
          </a:prstGeom>
          <a:noFill/>
        </p:spPr>
        <p:txBody>
          <a:bodyPr wrap="square">
            <a:spAutoFit/>
          </a:bodyPr>
          <a:lstStyle/>
          <a:p>
            <a:pPr marL="0" indent="0" algn="ctr">
              <a:buNone/>
            </a:pPr>
            <a:r>
              <a:rPr lang="en-US" dirty="0"/>
              <a:t>Kati Harper</a:t>
            </a:r>
          </a:p>
          <a:p>
            <a:pPr marL="0" indent="0" algn="ctr">
              <a:buNone/>
            </a:pPr>
            <a:r>
              <a:rPr lang="en-US" dirty="0" err="1">
                <a:solidFill>
                  <a:schemeClr val="bg2">
                    <a:lumMod val="75000"/>
                  </a:schemeClr>
                </a:solidFill>
              </a:rPr>
              <a:t>kaitlyn.harper@psy.lmu.de</a:t>
            </a:r>
            <a:r>
              <a:rPr lang="en-US" dirty="0">
                <a:solidFill>
                  <a:schemeClr val="bg2">
                    <a:lumMod val="75000"/>
                  </a:schemeClr>
                </a:solidFill>
              </a:rPr>
              <a:t> </a:t>
            </a:r>
          </a:p>
        </p:txBody>
      </p:sp>
      <p:grpSp>
        <p:nvGrpSpPr>
          <p:cNvPr id="12" name="Group 11">
            <a:extLst>
              <a:ext uri="{FF2B5EF4-FFF2-40B4-BE49-F238E27FC236}">
                <a16:creationId xmlns:a16="http://schemas.microsoft.com/office/drawing/2014/main" id="{625EA2E5-D0BA-35E8-66E4-F6F059B6981B}"/>
              </a:ext>
            </a:extLst>
          </p:cNvPr>
          <p:cNvGrpSpPr/>
          <p:nvPr/>
        </p:nvGrpSpPr>
        <p:grpSpPr>
          <a:xfrm>
            <a:off x="9389211" y="5796611"/>
            <a:ext cx="2698406" cy="954594"/>
            <a:chOff x="4224088" y="4056726"/>
            <a:chExt cx="3792570" cy="1341668"/>
          </a:xfrm>
        </p:grpSpPr>
        <p:pic>
          <p:nvPicPr>
            <p:cNvPr id="13" name="Picture 2" descr="meta-rep1-logo">
              <a:extLst>
                <a:ext uri="{FF2B5EF4-FFF2-40B4-BE49-F238E27FC236}">
                  <a16:creationId xmlns:a16="http://schemas.microsoft.com/office/drawing/2014/main" id="{5573C273-C583-5301-B2FF-AAA3F1861A1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090" t="11864" r="27517"/>
            <a:stretch/>
          </p:blipFill>
          <p:spPr bwMode="auto">
            <a:xfrm>
              <a:off x="4224088" y="4070038"/>
              <a:ext cx="2330381" cy="1315044"/>
            </a:xfrm>
            <a:prstGeom prst="rect">
              <a:avLst/>
            </a:prstGeom>
            <a:noFill/>
            <a:ln w="28575">
              <a:solidFill>
                <a:srgbClr val="32904D"/>
              </a:solidFill>
            </a:ln>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009C93AA-7DA2-A2B4-846B-5D70A1A82CAA}"/>
                </a:ext>
              </a:extLst>
            </p:cNvPr>
            <p:cNvGrpSpPr/>
            <p:nvPr/>
          </p:nvGrpSpPr>
          <p:grpSpPr>
            <a:xfrm>
              <a:off x="6676554" y="4056726"/>
              <a:ext cx="1340104" cy="1341668"/>
              <a:chOff x="6676554" y="4056726"/>
              <a:chExt cx="1340104" cy="1341668"/>
            </a:xfrm>
          </p:grpSpPr>
          <p:sp>
            <p:nvSpPr>
              <p:cNvPr id="15" name="Rectangle 14">
                <a:extLst>
                  <a:ext uri="{FF2B5EF4-FFF2-40B4-BE49-F238E27FC236}">
                    <a16:creationId xmlns:a16="http://schemas.microsoft.com/office/drawing/2014/main" id="{1DCFAA5C-B2A6-82E0-79BA-DB291A72BFA1}"/>
                  </a:ext>
                </a:extLst>
              </p:cNvPr>
              <p:cNvSpPr/>
              <p:nvPr/>
            </p:nvSpPr>
            <p:spPr>
              <a:xfrm>
                <a:off x="6676554" y="4056726"/>
                <a:ext cx="1340104" cy="1341668"/>
              </a:xfrm>
              <a:prstGeom prst="rect">
                <a:avLst/>
              </a:prstGeom>
              <a:solidFill>
                <a:schemeClr val="bg1"/>
              </a:solidFill>
              <a:ln w="28575">
                <a:solidFill>
                  <a:srgbClr val="3290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89754343-70B8-9F71-7E09-69F70B97D743}"/>
                  </a:ext>
                </a:extLst>
              </p:cNvPr>
              <p:cNvPicPr>
                <a:picLocks noChangeAspect="1"/>
              </p:cNvPicPr>
              <p:nvPr/>
            </p:nvPicPr>
            <p:blipFill rotWithShape="1">
              <a:blip r:embed="rId8"/>
              <a:srcRect l="14009" t="41297" r="74568" b="4687"/>
              <a:stretch/>
            </p:blipFill>
            <p:spPr>
              <a:xfrm>
                <a:off x="6721352" y="4657241"/>
                <a:ext cx="1250508" cy="727841"/>
              </a:xfrm>
              <a:prstGeom prst="rect">
                <a:avLst/>
              </a:prstGeom>
            </p:spPr>
          </p:pic>
        </p:grpSp>
      </p:grpSp>
      <p:sp>
        <p:nvSpPr>
          <p:cNvPr id="4" name="Slide Number Placeholder 3">
            <a:extLst>
              <a:ext uri="{FF2B5EF4-FFF2-40B4-BE49-F238E27FC236}">
                <a16:creationId xmlns:a16="http://schemas.microsoft.com/office/drawing/2014/main" id="{AFFDE6B9-48F9-BB65-8CF6-1625DE6A0BCA}"/>
              </a:ext>
            </a:extLst>
          </p:cNvPr>
          <p:cNvSpPr>
            <a:spLocks noGrp="1"/>
          </p:cNvSpPr>
          <p:nvPr>
            <p:ph type="sldNum" sz="quarter" idx="12"/>
          </p:nvPr>
        </p:nvSpPr>
        <p:spPr/>
        <p:txBody>
          <a:bodyPr/>
          <a:lstStyle/>
          <a:p>
            <a:fld id="{31FF4958-03C2-D046-B93E-A6943D85A75D}" type="slidenum">
              <a:rPr lang="en-US" smtClean="0"/>
              <a:t>15</a:t>
            </a:fld>
            <a:endParaRPr lang="en-US"/>
          </a:p>
        </p:txBody>
      </p:sp>
    </p:spTree>
    <p:extLst>
      <p:ext uri="{BB962C8B-B14F-4D97-AF65-F5344CB8AC3E}">
        <p14:creationId xmlns:p14="http://schemas.microsoft.com/office/powerpoint/2010/main" val="702881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6D4C4458-7B0E-BD27-9CFB-20E7320DB1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943270-12F5-D344-BF34-FE554296DF1F}"/>
              </a:ext>
            </a:extLst>
          </p:cNvPr>
          <p:cNvSpPr txBox="1"/>
          <p:nvPr/>
        </p:nvSpPr>
        <p:spPr>
          <a:xfrm>
            <a:off x="0" y="0"/>
            <a:ext cx="2244012" cy="923330"/>
          </a:xfrm>
          <a:prstGeom prst="rect">
            <a:avLst/>
          </a:prstGeom>
          <a:noFill/>
        </p:spPr>
        <p:txBody>
          <a:bodyPr wrap="none" rtlCol="0">
            <a:spAutoFit/>
          </a:bodyPr>
          <a:lstStyle/>
          <a:p>
            <a:r>
              <a:rPr lang="en-US" dirty="0"/>
              <a:t>*All replications </a:t>
            </a:r>
          </a:p>
          <a:p>
            <a:r>
              <a:rPr lang="en-US" dirty="0"/>
              <a:t>  get published</a:t>
            </a:r>
          </a:p>
          <a:p>
            <a:r>
              <a:rPr lang="en-US" dirty="0"/>
              <a:t>* Base null held at 0.9</a:t>
            </a:r>
          </a:p>
        </p:txBody>
      </p:sp>
      <p:pic>
        <p:nvPicPr>
          <p:cNvPr id="4" name="Picture 3">
            <a:extLst>
              <a:ext uri="{FF2B5EF4-FFF2-40B4-BE49-F238E27FC236}">
                <a16:creationId xmlns:a16="http://schemas.microsoft.com/office/drawing/2014/main" id="{E8FD6769-AC0D-69E2-20C1-936AE2FB85A9}"/>
              </a:ext>
            </a:extLst>
          </p:cNvPr>
          <p:cNvPicPr>
            <a:picLocks noChangeAspect="1"/>
          </p:cNvPicPr>
          <p:nvPr/>
        </p:nvPicPr>
        <p:blipFill>
          <a:blip r:embed="rId3"/>
          <a:stretch>
            <a:fillRect/>
          </a:stretch>
        </p:blipFill>
        <p:spPr>
          <a:xfrm>
            <a:off x="220388" y="2314186"/>
            <a:ext cx="6414328" cy="4447267"/>
          </a:xfrm>
          <a:prstGeom prst="rect">
            <a:avLst/>
          </a:prstGeom>
        </p:spPr>
      </p:pic>
      <p:pic>
        <p:nvPicPr>
          <p:cNvPr id="5" name="Picture 4">
            <a:extLst>
              <a:ext uri="{FF2B5EF4-FFF2-40B4-BE49-F238E27FC236}">
                <a16:creationId xmlns:a16="http://schemas.microsoft.com/office/drawing/2014/main" id="{AEA93B22-C8A4-B873-1603-FB2EBAF1D464}"/>
              </a:ext>
            </a:extLst>
          </p:cNvPr>
          <p:cNvPicPr>
            <a:picLocks noChangeAspect="1"/>
          </p:cNvPicPr>
          <p:nvPr/>
        </p:nvPicPr>
        <p:blipFill>
          <a:blip r:embed="rId4"/>
          <a:stretch>
            <a:fillRect/>
          </a:stretch>
        </p:blipFill>
        <p:spPr>
          <a:xfrm>
            <a:off x="2711990" y="96546"/>
            <a:ext cx="3817290" cy="2646654"/>
          </a:xfrm>
          <a:prstGeom prst="rect">
            <a:avLst/>
          </a:prstGeom>
        </p:spPr>
      </p:pic>
      <p:pic>
        <p:nvPicPr>
          <p:cNvPr id="3" name="Picture 2">
            <a:extLst>
              <a:ext uri="{FF2B5EF4-FFF2-40B4-BE49-F238E27FC236}">
                <a16:creationId xmlns:a16="http://schemas.microsoft.com/office/drawing/2014/main" id="{A731A9C4-920D-C63C-25BA-CDF37214E8E0}"/>
              </a:ext>
            </a:extLst>
          </p:cNvPr>
          <p:cNvPicPr>
            <a:picLocks noChangeAspect="1"/>
          </p:cNvPicPr>
          <p:nvPr/>
        </p:nvPicPr>
        <p:blipFill>
          <a:blip r:embed="rId5"/>
          <a:stretch>
            <a:fillRect/>
          </a:stretch>
        </p:blipFill>
        <p:spPr>
          <a:xfrm>
            <a:off x="6762307" y="1169657"/>
            <a:ext cx="5297537" cy="4679491"/>
          </a:xfrm>
          <a:prstGeom prst="rect">
            <a:avLst/>
          </a:prstGeom>
        </p:spPr>
      </p:pic>
      <p:sp>
        <p:nvSpPr>
          <p:cNvPr id="6" name="Slide Number Placeholder 5">
            <a:extLst>
              <a:ext uri="{FF2B5EF4-FFF2-40B4-BE49-F238E27FC236}">
                <a16:creationId xmlns:a16="http://schemas.microsoft.com/office/drawing/2014/main" id="{3ABA208D-5500-C569-4585-F807F9E3D859}"/>
              </a:ext>
            </a:extLst>
          </p:cNvPr>
          <p:cNvSpPr>
            <a:spLocks noGrp="1"/>
          </p:cNvSpPr>
          <p:nvPr>
            <p:ph type="sldNum" sz="quarter" idx="12"/>
          </p:nvPr>
        </p:nvSpPr>
        <p:spPr/>
        <p:txBody>
          <a:bodyPr/>
          <a:lstStyle/>
          <a:p>
            <a:fld id="{31FF4958-03C2-D046-B93E-A6943D85A75D}" type="slidenum">
              <a:rPr lang="en-US" smtClean="0"/>
              <a:t>16</a:t>
            </a:fld>
            <a:endParaRPr lang="en-US"/>
          </a:p>
        </p:txBody>
      </p:sp>
      <p:sp>
        <p:nvSpPr>
          <p:cNvPr id="7" name="Rectangle 6">
            <a:extLst>
              <a:ext uri="{FF2B5EF4-FFF2-40B4-BE49-F238E27FC236}">
                <a16:creationId xmlns:a16="http://schemas.microsoft.com/office/drawing/2014/main" id="{54309935-14DB-CD27-2F52-64F3A7EE3769}"/>
              </a:ext>
            </a:extLst>
          </p:cNvPr>
          <p:cNvSpPr/>
          <p:nvPr/>
        </p:nvSpPr>
        <p:spPr>
          <a:xfrm>
            <a:off x="0" y="0"/>
            <a:ext cx="12192000" cy="6858000"/>
          </a:xfrm>
          <a:prstGeom prst="rect">
            <a:avLst/>
          </a:prstGeom>
          <a:solidFill>
            <a:srgbClr val="767171">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0448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27691</TotalTime>
  <Words>953</Words>
  <Application>Microsoft Macintosh PowerPoint</Application>
  <PresentationFormat>Widescreen</PresentationFormat>
  <Paragraphs>155</Paragraphs>
  <Slides>16</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Britannic Bold</vt:lpstr>
      <vt:lpstr>Calibri</vt:lpstr>
      <vt:lpstr>Calibri Light</vt:lpstr>
      <vt:lpstr>Wingdings</vt:lpstr>
      <vt:lpstr>Office Theme</vt:lpstr>
      <vt:lpstr>Balancing Novelty and Replication: Insights from Evolutionary Simulations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204</cp:revision>
  <dcterms:created xsi:type="dcterms:W3CDTF">2025-12-02T12:39:49Z</dcterms:created>
  <dcterms:modified xsi:type="dcterms:W3CDTF">2026-06-10T11:28:33Z</dcterms:modified>
</cp:coreProperties>
</file>